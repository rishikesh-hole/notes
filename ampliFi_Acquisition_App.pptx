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1121F"/>
          </a:solidFill>
          <a:ln/>
        </p:spPr>
      </p:sp>
      <p:sp>
        <p:nvSpPr>
          <p:cNvPr id="3" name="Shape 1"/>
          <p:cNvSpPr/>
          <p:nvPr/>
        </p:nvSpPr>
        <p:spPr>
          <a:xfrm>
            <a:off x="6858000" y="3474720"/>
            <a:ext cx="2286000" cy="1668780"/>
          </a:xfrm>
          <a:prstGeom prst="rect">
            <a:avLst/>
          </a:prstGeom>
          <a:solidFill>
            <a:srgbClr val="1A2E45"/>
          </a:solidFill>
          <a:ln/>
        </p:spPr>
      </p:sp>
      <p:sp>
        <p:nvSpPr>
          <p:cNvPr id="4" name="Shape 2"/>
          <p:cNvSpPr/>
          <p:nvPr/>
        </p:nvSpPr>
        <p:spPr>
          <a:xfrm>
            <a:off x="6858000" y="3474720"/>
            <a:ext cx="2286000" cy="36576"/>
          </a:xfrm>
          <a:prstGeom prst="rect">
            <a:avLst/>
          </a:prstGeom>
          <a:solidFill>
            <a:srgbClr val="0A9396"/>
          </a:solidFill>
          <a:ln/>
        </p:spPr>
      </p:sp>
      <p:sp>
        <p:nvSpPr>
          <p:cNvPr id="5" name="Text 3"/>
          <p:cNvSpPr/>
          <p:nvPr/>
        </p:nvSpPr>
        <p:spPr>
          <a:xfrm>
            <a:off x="731520" y="548640"/>
            <a:ext cx="45720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ampli</a:t>
            </a:r>
            <a:pPr indent="0" marL="0">
              <a:buNone/>
            </a:pPr>
            <a:r>
              <a:rPr lang="en-US" sz="3600" b="1" dirty="0">
                <a:solidFill>
                  <a:srgbClr val="C1121F"/>
                </a:solidFill>
                <a:latin typeface="Calibri" pitchFamily="34" charset="0"/>
                <a:ea typeface="Calibri" pitchFamily="34" charset="-122"/>
                <a:cs typeface="Calibri" pitchFamily="34" charset="-120"/>
              </a:rPr>
              <a:t>Fi</a:t>
            </a:r>
            <a:endParaRPr lang="en-US" sz="3600" dirty="0"/>
          </a:p>
        </p:txBody>
      </p:sp>
      <p:sp>
        <p:nvSpPr>
          <p:cNvPr id="6" name="Text 4"/>
          <p:cNvSpPr/>
          <p:nvPr/>
        </p:nvSpPr>
        <p:spPr>
          <a:xfrm>
            <a:off x="731520" y="1234440"/>
            <a:ext cx="7315200" cy="640080"/>
          </a:xfrm>
          <a:prstGeom prst="rect">
            <a:avLst/>
          </a:prstGeom>
          <a:noFill/>
          <a:ln/>
        </p:spPr>
        <p:txBody>
          <a:bodyPr wrap="square" lIns="0" tIns="0" rIns="0" bIns="0" rtlCol="0" anchor="ctr"/>
          <a:lstStyle/>
          <a:p>
            <a:pPr indent="0" marL="0">
              <a:buNone/>
            </a:pPr>
            <a:r>
              <a:rPr lang="en-US" sz="3000" dirty="0">
                <a:solidFill>
                  <a:srgbClr val="FFFFFF"/>
                </a:solidFill>
                <a:latin typeface="Calibri" pitchFamily="34" charset="0"/>
                <a:ea typeface="Calibri" pitchFamily="34" charset="-122"/>
                <a:cs typeface="Calibri" pitchFamily="34" charset="-120"/>
              </a:rPr>
              <a:t>Acquisition App</a:t>
            </a:r>
            <a:endParaRPr lang="en-US" sz="3000" dirty="0"/>
          </a:p>
        </p:txBody>
      </p:sp>
      <p:sp>
        <p:nvSpPr>
          <p:cNvPr id="7" name="Text 5"/>
          <p:cNvSpPr/>
          <p:nvPr/>
        </p:nvSpPr>
        <p:spPr>
          <a:xfrm>
            <a:off x="731520" y="1920240"/>
            <a:ext cx="6400800" cy="365760"/>
          </a:xfrm>
          <a:prstGeom prst="rect">
            <a:avLst/>
          </a:prstGeom>
          <a:noFill/>
          <a:ln/>
        </p:spPr>
        <p:txBody>
          <a:bodyPr wrap="square" lIns="0" tIns="0" rIns="0" bIns="0" rtlCol="0" anchor="ctr"/>
          <a:lstStyle/>
          <a:p>
            <a:pPr indent="0" marL="0">
              <a:buNone/>
            </a:pPr>
            <a:r>
              <a:rPr lang="en-US" sz="1600" i="1" dirty="0">
                <a:solidFill>
                  <a:srgbClr val="94D2BD"/>
                </a:solidFill>
                <a:latin typeface="Calibri" pitchFamily="34" charset="0"/>
                <a:ea typeface="Calibri" pitchFamily="34" charset="-122"/>
                <a:cs typeface="Calibri" pitchFamily="34" charset="-120"/>
              </a:rPr>
              <a:t>Knowledge Session &amp; Demo</a:t>
            </a:r>
            <a:endParaRPr lang="en-US" sz="1600" dirty="0"/>
          </a:p>
        </p:txBody>
      </p:sp>
      <p:sp>
        <p:nvSpPr>
          <p:cNvPr id="8" name="Shape 6"/>
          <p:cNvSpPr/>
          <p:nvPr/>
        </p:nvSpPr>
        <p:spPr>
          <a:xfrm>
            <a:off x="731520" y="2377440"/>
            <a:ext cx="5486400" cy="36576"/>
          </a:xfrm>
          <a:prstGeom prst="rect">
            <a:avLst/>
          </a:prstGeom>
          <a:solidFill>
            <a:srgbClr val="0A9396"/>
          </a:solidFill>
          <a:ln/>
        </p:spPr>
      </p:sp>
      <p:sp>
        <p:nvSpPr>
          <p:cNvPr id="9" name="Text 7"/>
          <p:cNvSpPr/>
          <p:nvPr/>
        </p:nvSpPr>
        <p:spPr>
          <a:xfrm>
            <a:off x="731520" y="2514600"/>
            <a:ext cx="6858000" cy="822960"/>
          </a:xfrm>
          <a:prstGeom prst="rect">
            <a:avLst/>
          </a:prstGeom>
          <a:noFill/>
          <a:ln/>
        </p:spPr>
        <p:txBody>
          <a:bodyPr wrap="square" lIns="0" tIns="0" rIns="0" bIns="0" rtlCol="0" anchor="ctr"/>
          <a:lstStyle/>
          <a:p>
            <a:pPr indent="0" marL="0">
              <a:buNone/>
            </a:pPr>
            <a:r>
              <a:rPr lang="en-US" sz="1300" dirty="0">
                <a:solidFill>
                  <a:srgbClr val="8EABC0"/>
                </a:solidFill>
                <a:latin typeface="Calibri" pitchFamily="34" charset="0"/>
                <a:ea typeface="Calibri" pitchFamily="34" charset="-122"/>
                <a:cs typeface="Calibri" pitchFamily="34" charset="-120"/>
              </a:rPr>
              <a:t>Centralized onboarding of external finance data feeds</a:t>
            </a:r>
            <a:endParaRPr lang="en-US" sz="1300" dirty="0"/>
          </a:p>
          <a:p>
            <a:pPr indent="0" marL="0">
              <a:buNone/>
            </a:pPr>
            <a:r>
              <a:rPr lang="en-US" sz="1300" dirty="0">
                <a:solidFill>
                  <a:srgbClr val="8EABC0"/>
                </a:solidFill>
                <a:latin typeface="Calibri" pitchFamily="34" charset="0"/>
                <a:ea typeface="Calibri" pitchFamily="34" charset="-122"/>
                <a:cs typeface="Calibri" pitchFamily="34" charset="-120"/>
              </a:rPr>
              <a:t>with AI-powered automation and governed workflows</a:t>
            </a:r>
            <a:endParaRPr lang="en-US" sz="1300" dirty="0"/>
          </a:p>
        </p:txBody>
      </p:sp>
      <p:sp>
        <p:nvSpPr>
          <p:cNvPr id="10" name="Text 8"/>
          <p:cNvSpPr/>
          <p:nvPr/>
        </p:nvSpPr>
        <p:spPr>
          <a:xfrm>
            <a:off x="731520" y="4389120"/>
            <a:ext cx="5486400" cy="320040"/>
          </a:xfrm>
          <a:prstGeom prst="rect">
            <a:avLst/>
          </a:prstGeom>
          <a:noFill/>
          <a:ln/>
        </p:spPr>
        <p:txBody>
          <a:bodyPr wrap="square" lIns="0" tIns="0" rIns="0" bIns="0" rtlCol="0" anchor="ctr"/>
          <a:lstStyle/>
          <a:p>
            <a:pPr indent="0" marL="0">
              <a:buNone/>
            </a:pPr>
            <a:r>
              <a:rPr lang="en-US" sz="1100" i="1" dirty="0">
                <a:solidFill>
                  <a:srgbClr val="8EABC0"/>
                </a:solidFill>
                <a:latin typeface="Calibri" pitchFamily="34" charset="0"/>
                <a:ea typeface="Calibri" pitchFamily="34" charset="-122"/>
                <a:cs typeface="Calibri" pitchFamily="34" charset="-120"/>
              </a:rPr>
              <a:t>May 2026  |  UBS ampliFi Team</a:t>
            </a:r>
            <a:endParaRPr lang="en-US" sz="1100" dirty="0"/>
          </a:p>
        </p:txBody>
      </p:sp>
      <p:sp>
        <p:nvSpPr>
          <p:cNvPr id="11" name="Text 9"/>
          <p:cNvSpPr/>
          <p:nvPr/>
        </p:nvSpPr>
        <p:spPr>
          <a:xfrm>
            <a:off x="6949440" y="3657600"/>
            <a:ext cx="2011680" cy="365760"/>
          </a:xfrm>
          <a:prstGeom prst="rect">
            <a:avLst/>
          </a:prstGeom>
          <a:noFill/>
          <a:ln/>
        </p:spPr>
        <p:txBody>
          <a:bodyPr wrap="square" lIns="0" tIns="0" rIns="0" bIns="0" rtlCol="0" anchor="ctr"/>
          <a:lstStyle/>
          <a:p>
            <a:pPr algn="ctr" indent="0" marL="0">
              <a:buNone/>
            </a:pPr>
            <a:r>
              <a:rPr lang="en-US" sz="1400" b="1" dirty="0">
                <a:solidFill>
                  <a:srgbClr val="94D2BD"/>
                </a:solidFill>
                <a:latin typeface="Calibri" pitchFamily="34" charset="0"/>
                <a:ea typeface="Calibri" pitchFamily="34" charset="-122"/>
                <a:cs typeface="Calibri" pitchFamily="34" charset="-120"/>
              </a:rPr>
              <a:t>❄ UBS</a:t>
            </a:r>
            <a:endParaRPr lang="en-US" sz="1400" dirty="0"/>
          </a:p>
        </p:txBody>
      </p:sp>
      <p:sp>
        <p:nvSpPr>
          <p:cNvPr id="12" name="Text 10"/>
          <p:cNvSpPr/>
          <p:nvPr/>
        </p:nvSpPr>
        <p:spPr>
          <a:xfrm>
            <a:off x="6949440" y="4023360"/>
            <a:ext cx="2011680" cy="274320"/>
          </a:xfrm>
          <a:prstGeom prst="rect">
            <a:avLst/>
          </a:prstGeom>
          <a:noFill/>
          <a:ln/>
        </p:spPr>
        <p:txBody>
          <a:bodyPr wrap="square" lIns="0" tIns="0" rIns="0" bIns="0" rtlCol="0" anchor="ctr"/>
          <a:lstStyle/>
          <a:p>
            <a:pPr algn="ctr" indent="0" marL="0">
              <a:buNone/>
            </a:pPr>
            <a:r>
              <a:rPr lang="en-US" sz="1000" dirty="0">
                <a:solidFill>
                  <a:srgbClr val="8EABC0"/>
                </a:solidFill>
                <a:latin typeface="Calibri" pitchFamily="34" charset="0"/>
                <a:ea typeface="Calibri" pitchFamily="34" charset="-122"/>
                <a:cs typeface="Calibri" pitchFamily="34" charset="-120"/>
              </a:rPr>
              <a:t>Financial Services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5" name="Shape 3"/>
          <p:cNvSpPr/>
          <p:nvPr/>
        </p:nvSpPr>
        <p:spPr>
          <a:xfrm>
            <a:off x="320040" y="685800"/>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6" name="Shape 4"/>
          <p:cNvSpPr/>
          <p:nvPr/>
        </p:nvSpPr>
        <p:spPr>
          <a:xfrm>
            <a:off x="320040" y="685800"/>
            <a:ext cx="36576" cy="329184"/>
          </a:xfrm>
          <a:prstGeom prst="rect">
            <a:avLst/>
          </a:prstGeom>
          <a:solidFill>
            <a:srgbClr val="0A9396"/>
          </a:solidFill>
          <a:ln/>
        </p:spPr>
      </p:sp>
      <p:sp>
        <p:nvSpPr>
          <p:cNvPr id="7" name="Text 5"/>
          <p:cNvSpPr/>
          <p:nvPr/>
        </p:nvSpPr>
        <p:spPr>
          <a:xfrm>
            <a:off x="411480" y="685800"/>
            <a:ext cx="365760" cy="329184"/>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795528" y="704088"/>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Overview</a:t>
            </a:r>
            <a:endParaRPr lang="en-US" sz="1200" dirty="0"/>
          </a:p>
        </p:txBody>
      </p:sp>
      <p:sp>
        <p:nvSpPr>
          <p:cNvPr id="9" name="Text 7"/>
          <p:cNvSpPr/>
          <p:nvPr/>
        </p:nvSpPr>
        <p:spPr>
          <a:xfrm>
            <a:off x="795528" y="859536"/>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What is the ampliFi Acquisition App?</a:t>
            </a:r>
            <a:endParaRPr lang="en-US" sz="900" dirty="0"/>
          </a:p>
        </p:txBody>
      </p:sp>
      <p:sp>
        <p:nvSpPr>
          <p:cNvPr id="10" name="Shape 8"/>
          <p:cNvSpPr/>
          <p:nvPr/>
        </p:nvSpPr>
        <p:spPr>
          <a:xfrm>
            <a:off x="320040" y="1069848"/>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1" name="Shape 9"/>
          <p:cNvSpPr/>
          <p:nvPr/>
        </p:nvSpPr>
        <p:spPr>
          <a:xfrm>
            <a:off x="320040" y="1069848"/>
            <a:ext cx="36576" cy="329184"/>
          </a:xfrm>
          <a:prstGeom prst="rect">
            <a:avLst/>
          </a:prstGeom>
          <a:solidFill>
            <a:srgbClr val="C1121F"/>
          </a:solidFill>
          <a:ln/>
        </p:spPr>
      </p:sp>
      <p:sp>
        <p:nvSpPr>
          <p:cNvPr id="12" name="Text 10"/>
          <p:cNvSpPr/>
          <p:nvPr/>
        </p:nvSpPr>
        <p:spPr>
          <a:xfrm>
            <a:off x="411480" y="1069848"/>
            <a:ext cx="365760" cy="329184"/>
          </a:xfrm>
          <a:prstGeom prst="rect">
            <a:avLst/>
          </a:prstGeom>
          <a:noFill/>
          <a:ln/>
        </p:spPr>
        <p:txBody>
          <a:bodyPr wrap="square" lIns="0" tIns="0" rIns="0" bIns="0"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795528" y="1088136"/>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Business Problem</a:t>
            </a:r>
            <a:endParaRPr lang="en-US" sz="1200" dirty="0"/>
          </a:p>
        </p:txBody>
      </p:sp>
      <p:sp>
        <p:nvSpPr>
          <p:cNvPr id="14" name="Text 12"/>
          <p:cNvSpPr/>
          <p:nvPr/>
        </p:nvSpPr>
        <p:spPr>
          <a:xfrm>
            <a:off x="795528" y="1243584"/>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Challenges &amp; solution</a:t>
            </a:r>
            <a:endParaRPr lang="en-US" sz="900" dirty="0"/>
          </a:p>
        </p:txBody>
      </p:sp>
      <p:sp>
        <p:nvSpPr>
          <p:cNvPr id="15" name="Shape 13"/>
          <p:cNvSpPr/>
          <p:nvPr/>
        </p:nvSpPr>
        <p:spPr>
          <a:xfrm>
            <a:off x="320040" y="1453896"/>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20040" y="1453896"/>
            <a:ext cx="36576" cy="329184"/>
          </a:xfrm>
          <a:prstGeom prst="rect">
            <a:avLst/>
          </a:prstGeom>
          <a:solidFill>
            <a:srgbClr val="0A9396"/>
          </a:solidFill>
          <a:ln/>
        </p:spPr>
      </p:sp>
      <p:sp>
        <p:nvSpPr>
          <p:cNvPr id="17" name="Text 15"/>
          <p:cNvSpPr/>
          <p:nvPr/>
        </p:nvSpPr>
        <p:spPr>
          <a:xfrm>
            <a:off x="411480" y="1453896"/>
            <a:ext cx="365760" cy="329184"/>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795528" y="1472184"/>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Key Purpose &amp; Goals</a:t>
            </a:r>
            <a:endParaRPr lang="en-US" sz="1200" dirty="0"/>
          </a:p>
        </p:txBody>
      </p:sp>
      <p:sp>
        <p:nvSpPr>
          <p:cNvPr id="19" name="Text 17"/>
          <p:cNvSpPr/>
          <p:nvPr/>
        </p:nvSpPr>
        <p:spPr>
          <a:xfrm>
            <a:off x="795528" y="1627632"/>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Core objectives</a:t>
            </a:r>
            <a:endParaRPr lang="en-US" sz="900" dirty="0"/>
          </a:p>
        </p:txBody>
      </p:sp>
      <p:sp>
        <p:nvSpPr>
          <p:cNvPr id="20" name="Shape 18"/>
          <p:cNvSpPr/>
          <p:nvPr/>
        </p:nvSpPr>
        <p:spPr>
          <a:xfrm>
            <a:off x="320040" y="1837944"/>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1" name="Shape 19"/>
          <p:cNvSpPr/>
          <p:nvPr/>
        </p:nvSpPr>
        <p:spPr>
          <a:xfrm>
            <a:off x="320040" y="1837944"/>
            <a:ext cx="36576" cy="329184"/>
          </a:xfrm>
          <a:prstGeom prst="rect">
            <a:avLst/>
          </a:prstGeom>
          <a:solidFill>
            <a:srgbClr val="C1121F"/>
          </a:solidFill>
          <a:ln/>
        </p:spPr>
      </p:sp>
      <p:sp>
        <p:nvSpPr>
          <p:cNvPr id="22" name="Text 20"/>
          <p:cNvSpPr/>
          <p:nvPr/>
        </p:nvSpPr>
        <p:spPr>
          <a:xfrm>
            <a:off x="411480" y="1837944"/>
            <a:ext cx="365760" cy="329184"/>
          </a:xfrm>
          <a:prstGeom prst="rect">
            <a:avLst/>
          </a:prstGeom>
          <a:noFill/>
          <a:ln/>
        </p:spPr>
        <p:txBody>
          <a:bodyPr wrap="square" lIns="0" tIns="0" rIns="0" bIns="0"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795528" y="1856232"/>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System Architecture</a:t>
            </a:r>
            <a:endParaRPr lang="en-US" sz="1200" dirty="0"/>
          </a:p>
        </p:txBody>
      </p:sp>
      <p:sp>
        <p:nvSpPr>
          <p:cNvPr id="24" name="Text 22"/>
          <p:cNvSpPr/>
          <p:nvPr/>
        </p:nvSpPr>
        <p:spPr>
          <a:xfrm>
            <a:off x="795528" y="2011680"/>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Proposed final workflow</a:t>
            </a:r>
            <a:endParaRPr lang="en-US" sz="900" dirty="0"/>
          </a:p>
        </p:txBody>
      </p:sp>
      <p:sp>
        <p:nvSpPr>
          <p:cNvPr id="25" name="Shape 23"/>
          <p:cNvSpPr/>
          <p:nvPr/>
        </p:nvSpPr>
        <p:spPr>
          <a:xfrm>
            <a:off x="320040" y="2221992"/>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6" name="Shape 24"/>
          <p:cNvSpPr/>
          <p:nvPr/>
        </p:nvSpPr>
        <p:spPr>
          <a:xfrm>
            <a:off x="320040" y="2221992"/>
            <a:ext cx="36576" cy="329184"/>
          </a:xfrm>
          <a:prstGeom prst="rect">
            <a:avLst/>
          </a:prstGeom>
          <a:solidFill>
            <a:srgbClr val="0A9396"/>
          </a:solidFill>
          <a:ln/>
        </p:spPr>
      </p:sp>
      <p:sp>
        <p:nvSpPr>
          <p:cNvPr id="27" name="Text 25"/>
          <p:cNvSpPr/>
          <p:nvPr/>
        </p:nvSpPr>
        <p:spPr>
          <a:xfrm>
            <a:off x="411480" y="2221992"/>
            <a:ext cx="365760" cy="329184"/>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795528" y="2240280"/>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30-Step Flow: User &amp; UI Layer</a:t>
            </a:r>
            <a:endParaRPr lang="en-US" sz="1200" dirty="0"/>
          </a:p>
        </p:txBody>
      </p:sp>
      <p:sp>
        <p:nvSpPr>
          <p:cNvPr id="29" name="Text 27"/>
          <p:cNvSpPr/>
          <p:nvPr/>
        </p:nvSpPr>
        <p:spPr>
          <a:xfrm>
            <a:off x="795528" y="2395728"/>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Feed onboarding steps</a:t>
            </a:r>
            <a:endParaRPr lang="en-US" sz="900" dirty="0"/>
          </a:p>
        </p:txBody>
      </p:sp>
      <p:sp>
        <p:nvSpPr>
          <p:cNvPr id="30" name="Shape 28"/>
          <p:cNvSpPr/>
          <p:nvPr/>
        </p:nvSpPr>
        <p:spPr>
          <a:xfrm>
            <a:off x="320040" y="2606040"/>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1" name="Shape 29"/>
          <p:cNvSpPr/>
          <p:nvPr/>
        </p:nvSpPr>
        <p:spPr>
          <a:xfrm>
            <a:off x="320040" y="2606040"/>
            <a:ext cx="36576" cy="329184"/>
          </a:xfrm>
          <a:prstGeom prst="rect">
            <a:avLst/>
          </a:prstGeom>
          <a:solidFill>
            <a:srgbClr val="C1121F"/>
          </a:solidFill>
          <a:ln/>
        </p:spPr>
      </p:sp>
      <p:sp>
        <p:nvSpPr>
          <p:cNvPr id="32" name="Text 30"/>
          <p:cNvSpPr/>
          <p:nvPr/>
        </p:nvSpPr>
        <p:spPr>
          <a:xfrm>
            <a:off x="411480" y="2606040"/>
            <a:ext cx="365760" cy="329184"/>
          </a:xfrm>
          <a:prstGeom prst="rect">
            <a:avLst/>
          </a:prstGeom>
          <a:noFill/>
          <a:ln/>
        </p:spPr>
        <p:txBody>
          <a:bodyPr wrap="square" lIns="0" tIns="0" rIns="0" bIns="0"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795528" y="2624328"/>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Metadata Capture &amp; Storage</a:t>
            </a:r>
            <a:endParaRPr lang="en-US" sz="1200" dirty="0"/>
          </a:p>
        </p:txBody>
      </p:sp>
      <p:sp>
        <p:nvSpPr>
          <p:cNvPr id="34" name="Text 32"/>
          <p:cNvSpPr/>
          <p:nvPr/>
        </p:nvSpPr>
        <p:spPr>
          <a:xfrm>
            <a:off x="795528" y="2779776"/>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Feed Passport, DB, validation</a:t>
            </a:r>
            <a:endParaRPr lang="en-US" sz="900" dirty="0"/>
          </a:p>
        </p:txBody>
      </p:sp>
      <p:sp>
        <p:nvSpPr>
          <p:cNvPr id="35" name="Shape 33"/>
          <p:cNvSpPr/>
          <p:nvPr/>
        </p:nvSpPr>
        <p:spPr>
          <a:xfrm>
            <a:off x="320040" y="2990088"/>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6" name="Shape 34"/>
          <p:cNvSpPr/>
          <p:nvPr/>
        </p:nvSpPr>
        <p:spPr>
          <a:xfrm>
            <a:off x="320040" y="2990088"/>
            <a:ext cx="36576" cy="329184"/>
          </a:xfrm>
          <a:prstGeom prst="rect">
            <a:avLst/>
          </a:prstGeom>
          <a:solidFill>
            <a:srgbClr val="0A9396"/>
          </a:solidFill>
          <a:ln/>
        </p:spPr>
      </p:sp>
      <p:sp>
        <p:nvSpPr>
          <p:cNvPr id="37" name="Text 35"/>
          <p:cNvSpPr/>
          <p:nvPr/>
        </p:nvSpPr>
        <p:spPr>
          <a:xfrm>
            <a:off x="411480" y="2990088"/>
            <a:ext cx="365760" cy="329184"/>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07</a:t>
            </a:r>
            <a:endParaRPr lang="en-US" sz="1200" dirty="0"/>
          </a:p>
        </p:txBody>
      </p:sp>
      <p:sp>
        <p:nvSpPr>
          <p:cNvPr id="38" name="Text 36"/>
          <p:cNvSpPr/>
          <p:nvPr/>
        </p:nvSpPr>
        <p:spPr>
          <a:xfrm>
            <a:off x="795528" y="3008376"/>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Governance &amp; Approval</a:t>
            </a:r>
            <a:endParaRPr lang="en-US" sz="1200" dirty="0"/>
          </a:p>
        </p:txBody>
      </p:sp>
      <p:sp>
        <p:nvSpPr>
          <p:cNvPr id="39" name="Text 37"/>
          <p:cNvSpPr/>
          <p:nvPr/>
        </p:nvSpPr>
        <p:spPr>
          <a:xfrm>
            <a:off x="795528" y="3163824"/>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Review, sign-off, compliance</a:t>
            </a:r>
            <a:endParaRPr lang="en-US" sz="900" dirty="0"/>
          </a:p>
        </p:txBody>
      </p:sp>
      <p:sp>
        <p:nvSpPr>
          <p:cNvPr id="40" name="Shape 38"/>
          <p:cNvSpPr/>
          <p:nvPr/>
        </p:nvSpPr>
        <p:spPr>
          <a:xfrm>
            <a:off x="4617720" y="685800"/>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1" name="Shape 39"/>
          <p:cNvSpPr/>
          <p:nvPr/>
        </p:nvSpPr>
        <p:spPr>
          <a:xfrm>
            <a:off x="4617720" y="685800"/>
            <a:ext cx="36576" cy="329184"/>
          </a:xfrm>
          <a:prstGeom prst="rect">
            <a:avLst/>
          </a:prstGeom>
          <a:solidFill>
            <a:srgbClr val="C1121F"/>
          </a:solidFill>
          <a:ln/>
        </p:spPr>
      </p:sp>
      <p:sp>
        <p:nvSpPr>
          <p:cNvPr id="42" name="Text 40"/>
          <p:cNvSpPr/>
          <p:nvPr/>
        </p:nvSpPr>
        <p:spPr>
          <a:xfrm>
            <a:off x="4709160" y="685800"/>
            <a:ext cx="365760" cy="329184"/>
          </a:xfrm>
          <a:prstGeom prst="rect">
            <a:avLst/>
          </a:prstGeom>
          <a:noFill/>
          <a:ln/>
        </p:spPr>
        <p:txBody>
          <a:bodyPr wrap="square" lIns="0" tIns="0" rIns="0" bIns="0"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08</a:t>
            </a:r>
            <a:endParaRPr lang="en-US" sz="1200" dirty="0"/>
          </a:p>
        </p:txBody>
      </p:sp>
      <p:sp>
        <p:nvSpPr>
          <p:cNvPr id="43" name="Text 41"/>
          <p:cNvSpPr/>
          <p:nvPr/>
        </p:nvSpPr>
        <p:spPr>
          <a:xfrm>
            <a:off x="5093208" y="704088"/>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Backend Processing</a:t>
            </a:r>
            <a:endParaRPr lang="en-US" sz="1200" dirty="0"/>
          </a:p>
        </p:txBody>
      </p:sp>
      <p:sp>
        <p:nvSpPr>
          <p:cNvPr id="44" name="Text 42"/>
          <p:cNvSpPr/>
          <p:nvPr/>
        </p:nvSpPr>
        <p:spPr>
          <a:xfrm>
            <a:off x="5093208" y="859536"/>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Orchestration &amp; skills layer</a:t>
            </a:r>
            <a:endParaRPr lang="en-US" sz="900" dirty="0"/>
          </a:p>
        </p:txBody>
      </p:sp>
      <p:sp>
        <p:nvSpPr>
          <p:cNvPr id="45" name="Shape 43"/>
          <p:cNvSpPr/>
          <p:nvPr/>
        </p:nvSpPr>
        <p:spPr>
          <a:xfrm>
            <a:off x="4617720" y="1069848"/>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6" name="Shape 44"/>
          <p:cNvSpPr/>
          <p:nvPr/>
        </p:nvSpPr>
        <p:spPr>
          <a:xfrm>
            <a:off x="4617720" y="1069848"/>
            <a:ext cx="36576" cy="329184"/>
          </a:xfrm>
          <a:prstGeom prst="rect">
            <a:avLst/>
          </a:prstGeom>
          <a:solidFill>
            <a:srgbClr val="0A9396"/>
          </a:solidFill>
          <a:ln/>
        </p:spPr>
      </p:sp>
      <p:sp>
        <p:nvSpPr>
          <p:cNvPr id="47" name="Text 45"/>
          <p:cNvSpPr/>
          <p:nvPr/>
        </p:nvSpPr>
        <p:spPr>
          <a:xfrm>
            <a:off x="4709160" y="1069848"/>
            <a:ext cx="365760" cy="329184"/>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09</a:t>
            </a:r>
            <a:endParaRPr lang="en-US" sz="1200" dirty="0"/>
          </a:p>
        </p:txBody>
      </p:sp>
      <p:sp>
        <p:nvSpPr>
          <p:cNvPr id="48" name="Text 46"/>
          <p:cNvSpPr/>
          <p:nvPr/>
        </p:nvSpPr>
        <p:spPr>
          <a:xfrm>
            <a:off x="5093208" y="1088136"/>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AI Agents &amp; Automation</a:t>
            </a:r>
            <a:endParaRPr lang="en-US" sz="1200" dirty="0"/>
          </a:p>
        </p:txBody>
      </p:sp>
      <p:sp>
        <p:nvSpPr>
          <p:cNvPr id="49" name="Text 47"/>
          <p:cNvSpPr/>
          <p:nvPr/>
        </p:nvSpPr>
        <p:spPr>
          <a:xfrm>
            <a:off x="5093208" y="1243584"/>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MEG &amp; GW artifact generation</a:t>
            </a:r>
            <a:endParaRPr lang="en-US" sz="900" dirty="0"/>
          </a:p>
        </p:txBody>
      </p:sp>
      <p:sp>
        <p:nvSpPr>
          <p:cNvPr id="50" name="Shape 48"/>
          <p:cNvSpPr/>
          <p:nvPr/>
        </p:nvSpPr>
        <p:spPr>
          <a:xfrm>
            <a:off x="4617720" y="1453896"/>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51" name="Shape 49"/>
          <p:cNvSpPr/>
          <p:nvPr/>
        </p:nvSpPr>
        <p:spPr>
          <a:xfrm>
            <a:off x="4617720" y="1453896"/>
            <a:ext cx="36576" cy="329184"/>
          </a:xfrm>
          <a:prstGeom prst="rect">
            <a:avLst/>
          </a:prstGeom>
          <a:solidFill>
            <a:srgbClr val="C1121F"/>
          </a:solidFill>
          <a:ln/>
        </p:spPr>
      </p:sp>
      <p:sp>
        <p:nvSpPr>
          <p:cNvPr id="52" name="Text 50"/>
          <p:cNvSpPr/>
          <p:nvPr/>
        </p:nvSpPr>
        <p:spPr>
          <a:xfrm>
            <a:off x="4709160" y="1453896"/>
            <a:ext cx="365760" cy="329184"/>
          </a:xfrm>
          <a:prstGeom prst="rect">
            <a:avLst/>
          </a:prstGeom>
          <a:noFill/>
          <a:ln/>
        </p:spPr>
        <p:txBody>
          <a:bodyPr wrap="square" lIns="0" tIns="0" rIns="0" bIns="0"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10</a:t>
            </a:r>
            <a:endParaRPr lang="en-US" sz="1200" dirty="0"/>
          </a:p>
        </p:txBody>
      </p:sp>
      <p:sp>
        <p:nvSpPr>
          <p:cNvPr id="53" name="Text 51"/>
          <p:cNvSpPr/>
          <p:nvPr/>
        </p:nvSpPr>
        <p:spPr>
          <a:xfrm>
            <a:off x="5093208" y="1472184"/>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Data Pipeline Execution</a:t>
            </a:r>
            <a:endParaRPr lang="en-US" sz="1200" dirty="0"/>
          </a:p>
        </p:txBody>
      </p:sp>
      <p:sp>
        <p:nvSpPr>
          <p:cNvPr id="54" name="Text 52"/>
          <p:cNvSpPr/>
          <p:nvPr/>
        </p:nvSpPr>
        <p:spPr>
          <a:xfrm>
            <a:off x="5093208" y="1627632"/>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Ingestion, validation, DAGs</a:t>
            </a:r>
            <a:endParaRPr lang="en-US" sz="900" dirty="0"/>
          </a:p>
        </p:txBody>
      </p:sp>
      <p:sp>
        <p:nvSpPr>
          <p:cNvPr id="55" name="Shape 53"/>
          <p:cNvSpPr/>
          <p:nvPr/>
        </p:nvSpPr>
        <p:spPr>
          <a:xfrm>
            <a:off x="4617720" y="1837944"/>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56" name="Shape 54"/>
          <p:cNvSpPr/>
          <p:nvPr/>
        </p:nvSpPr>
        <p:spPr>
          <a:xfrm>
            <a:off x="4617720" y="1837944"/>
            <a:ext cx="36576" cy="329184"/>
          </a:xfrm>
          <a:prstGeom prst="rect">
            <a:avLst/>
          </a:prstGeom>
          <a:solidFill>
            <a:srgbClr val="0A9396"/>
          </a:solidFill>
          <a:ln/>
        </p:spPr>
      </p:sp>
      <p:sp>
        <p:nvSpPr>
          <p:cNvPr id="57" name="Text 55"/>
          <p:cNvSpPr/>
          <p:nvPr/>
        </p:nvSpPr>
        <p:spPr>
          <a:xfrm>
            <a:off x="4709160" y="1837944"/>
            <a:ext cx="365760" cy="329184"/>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11</a:t>
            </a:r>
            <a:endParaRPr lang="en-US" sz="1200" dirty="0"/>
          </a:p>
        </p:txBody>
      </p:sp>
      <p:sp>
        <p:nvSpPr>
          <p:cNvPr id="58" name="Text 56"/>
          <p:cNvSpPr/>
          <p:nvPr/>
        </p:nvSpPr>
        <p:spPr>
          <a:xfrm>
            <a:off x="5093208" y="1856232"/>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Integration &amp; Consumption</a:t>
            </a:r>
            <a:endParaRPr lang="en-US" sz="1200" dirty="0"/>
          </a:p>
        </p:txBody>
      </p:sp>
      <p:sp>
        <p:nvSpPr>
          <p:cNvPr id="59" name="Text 57"/>
          <p:cNvSpPr/>
          <p:nvPr/>
        </p:nvSpPr>
        <p:spPr>
          <a:xfrm>
            <a:off x="5093208" y="2011680"/>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Downstream systems</a:t>
            </a:r>
            <a:endParaRPr lang="en-US" sz="900" dirty="0"/>
          </a:p>
        </p:txBody>
      </p:sp>
      <p:sp>
        <p:nvSpPr>
          <p:cNvPr id="60" name="Shape 58"/>
          <p:cNvSpPr/>
          <p:nvPr/>
        </p:nvSpPr>
        <p:spPr>
          <a:xfrm>
            <a:off x="4617720" y="2221992"/>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61" name="Shape 59"/>
          <p:cNvSpPr/>
          <p:nvPr/>
        </p:nvSpPr>
        <p:spPr>
          <a:xfrm>
            <a:off x="4617720" y="2221992"/>
            <a:ext cx="36576" cy="329184"/>
          </a:xfrm>
          <a:prstGeom prst="rect">
            <a:avLst/>
          </a:prstGeom>
          <a:solidFill>
            <a:srgbClr val="C1121F"/>
          </a:solidFill>
          <a:ln/>
        </p:spPr>
      </p:sp>
      <p:sp>
        <p:nvSpPr>
          <p:cNvPr id="62" name="Text 60"/>
          <p:cNvSpPr/>
          <p:nvPr/>
        </p:nvSpPr>
        <p:spPr>
          <a:xfrm>
            <a:off x="4709160" y="2221992"/>
            <a:ext cx="365760" cy="329184"/>
          </a:xfrm>
          <a:prstGeom prst="rect">
            <a:avLst/>
          </a:prstGeom>
          <a:noFill/>
          <a:ln/>
        </p:spPr>
        <p:txBody>
          <a:bodyPr wrap="square" lIns="0" tIns="0" rIns="0" bIns="0"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12</a:t>
            </a:r>
            <a:endParaRPr lang="en-US" sz="1200" dirty="0"/>
          </a:p>
        </p:txBody>
      </p:sp>
      <p:sp>
        <p:nvSpPr>
          <p:cNvPr id="63" name="Text 61"/>
          <p:cNvSpPr/>
          <p:nvPr/>
        </p:nvSpPr>
        <p:spPr>
          <a:xfrm>
            <a:off x="5093208" y="2240280"/>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Final Outcome &amp; Benefits</a:t>
            </a:r>
            <a:endParaRPr lang="en-US" sz="1200" dirty="0"/>
          </a:p>
        </p:txBody>
      </p:sp>
      <p:sp>
        <p:nvSpPr>
          <p:cNvPr id="64" name="Text 62"/>
          <p:cNvSpPr/>
          <p:nvPr/>
        </p:nvSpPr>
        <p:spPr>
          <a:xfrm>
            <a:off x="5093208" y="2395728"/>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What the system delivers</a:t>
            </a:r>
            <a:endParaRPr lang="en-US" sz="900" dirty="0"/>
          </a:p>
        </p:txBody>
      </p:sp>
      <p:sp>
        <p:nvSpPr>
          <p:cNvPr id="65" name="Shape 63"/>
          <p:cNvSpPr/>
          <p:nvPr/>
        </p:nvSpPr>
        <p:spPr>
          <a:xfrm>
            <a:off x="4617720" y="2606040"/>
            <a:ext cx="4114800" cy="329184"/>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66" name="Shape 64"/>
          <p:cNvSpPr/>
          <p:nvPr/>
        </p:nvSpPr>
        <p:spPr>
          <a:xfrm>
            <a:off x="4617720" y="2606040"/>
            <a:ext cx="36576" cy="329184"/>
          </a:xfrm>
          <a:prstGeom prst="rect">
            <a:avLst/>
          </a:prstGeom>
          <a:solidFill>
            <a:srgbClr val="0A9396"/>
          </a:solidFill>
          <a:ln/>
        </p:spPr>
      </p:sp>
      <p:sp>
        <p:nvSpPr>
          <p:cNvPr id="67" name="Text 65"/>
          <p:cNvSpPr/>
          <p:nvPr/>
        </p:nvSpPr>
        <p:spPr>
          <a:xfrm>
            <a:off x="4709160" y="2606040"/>
            <a:ext cx="365760" cy="329184"/>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13</a:t>
            </a:r>
            <a:endParaRPr lang="en-US" sz="1200" dirty="0"/>
          </a:p>
        </p:txBody>
      </p:sp>
      <p:sp>
        <p:nvSpPr>
          <p:cNvPr id="68" name="Text 66"/>
          <p:cNvSpPr/>
          <p:nvPr/>
        </p:nvSpPr>
        <p:spPr>
          <a:xfrm>
            <a:off x="5093208" y="2624328"/>
            <a:ext cx="3566160" cy="18288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Q&amp;A</a:t>
            </a:r>
            <a:endParaRPr lang="en-US" sz="1200" dirty="0"/>
          </a:p>
        </p:txBody>
      </p:sp>
      <p:sp>
        <p:nvSpPr>
          <p:cNvPr id="69" name="Text 67"/>
          <p:cNvSpPr/>
          <p:nvPr/>
        </p:nvSpPr>
        <p:spPr>
          <a:xfrm>
            <a:off x="5093208" y="2779776"/>
            <a:ext cx="3566160" cy="146304"/>
          </a:xfrm>
          <a:prstGeom prst="rect">
            <a:avLst/>
          </a:prstGeom>
          <a:noFill/>
          <a:ln/>
        </p:spPr>
        <p:txBody>
          <a:bodyPr wrap="square" lIns="0" tIns="0" rIns="0" bIns="0" rtlCol="0" anchor="ctr"/>
          <a:lstStyle/>
          <a:p>
            <a:pPr indent="0" marL="0">
              <a:buNone/>
            </a:pPr>
            <a:r>
              <a:rPr lang="en-US" sz="900" dirty="0">
                <a:solidFill>
                  <a:srgbClr val="8EABC0"/>
                </a:solidFill>
                <a:latin typeface="Calibri" pitchFamily="34" charset="0"/>
                <a:ea typeface="Calibri" pitchFamily="34" charset="-122"/>
                <a:cs typeface="Calibri" pitchFamily="34" charset="-120"/>
              </a:rPr>
              <a:t>Questions &amp; discussion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01  |  Overview — What is the ampliFi Acquisition App?</a:t>
            </a:r>
            <a:endParaRPr lang="en-US" sz="2000" dirty="0"/>
          </a:p>
        </p:txBody>
      </p:sp>
      <p:sp>
        <p:nvSpPr>
          <p:cNvPr id="5" name="Shape 3"/>
          <p:cNvSpPr/>
          <p:nvPr/>
        </p:nvSpPr>
        <p:spPr>
          <a:xfrm>
            <a:off x="320040" y="658368"/>
            <a:ext cx="8503920" cy="960120"/>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6" name="Shape 4"/>
          <p:cNvSpPr/>
          <p:nvPr/>
        </p:nvSpPr>
        <p:spPr>
          <a:xfrm>
            <a:off x="320040" y="658368"/>
            <a:ext cx="73152" cy="960120"/>
          </a:xfrm>
          <a:prstGeom prst="rect">
            <a:avLst/>
          </a:prstGeom>
          <a:solidFill>
            <a:srgbClr val="0A9396"/>
          </a:solidFill>
          <a:ln/>
        </p:spPr>
      </p:sp>
      <p:sp>
        <p:nvSpPr>
          <p:cNvPr id="7" name="Text 5"/>
          <p:cNvSpPr/>
          <p:nvPr/>
        </p:nvSpPr>
        <p:spPr>
          <a:xfrm>
            <a:off x="548640" y="713232"/>
            <a:ext cx="8138160" cy="8412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ampli</a:t>
            </a:r>
            <a:pPr indent="0" marL="0">
              <a:buNone/>
            </a:pPr>
            <a:r>
              <a:rPr lang="en-US" sz="1300" b="1" dirty="0">
                <a:solidFill>
                  <a:srgbClr val="C1121F"/>
                </a:solidFill>
                <a:latin typeface="Calibri" pitchFamily="34" charset="0"/>
                <a:ea typeface="Calibri" pitchFamily="34" charset="-122"/>
                <a:cs typeface="Calibri" pitchFamily="34" charset="-120"/>
              </a:rPr>
              <a:t>Fi</a:t>
            </a:r>
            <a:pPr indent="0" marL="0">
              <a:buNone/>
            </a:pPr>
            <a:r>
              <a:rPr lang="en-US" sz="1300" b="1" dirty="0">
                <a:solidFill>
                  <a:srgbClr val="FFFFFF"/>
                </a:solidFill>
                <a:latin typeface="Calibri" pitchFamily="34" charset="0"/>
                <a:ea typeface="Calibri" pitchFamily="34" charset="-122"/>
                <a:cs typeface="Calibri" pitchFamily="34" charset="-120"/>
              </a:rPr>
              <a:t> Acquisition App  — </a:t>
            </a:r>
            <a:pPr indent="0" marL="0">
              <a:buNone/>
            </a:pPr>
            <a:r>
              <a:rPr lang="en-US" sz="1300" dirty="0">
                <a:solidFill>
                  <a:srgbClr val="94D2BD"/>
                </a:solidFill>
                <a:latin typeface="Calibri" pitchFamily="34" charset="0"/>
                <a:ea typeface="Calibri" pitchFamily="34" charset="-122"/>
                <a:cs typeface="Calibri" pitchFamily="34" charset="-120"/>
              </a:rPr>
              <a:t>A single, governed entry point into Finance for onboarding all externally sourced data feeds with standardized controls, automation, and workflow-based governance.</a:t>
            </a:r>
            <a:endParaRPr lang="en-US" sz="1300" dirty="0"/>
          </a:p>
        </p:txBody>
      </p:sp>
      <p:sp>
        <p:nvSpPr>
          <p:cNvPr id="8" name="Shape 6"/>
          <p:cNvSpPr/>
          <p:nvPr/>
        </p:nvSpPr>
        <p:spPr>
          <a:xfrm>
            <a:off x="320040" y="1737360"/>
            <a:ext cx="274320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9" name="Shape 7"/>
          <p:cNvSpPr/>
          <p:nvPr/>
        </p:nvSpPr>
        <p:spPr>
          <a:xfrm>
            <a:off x="320040" y="1737360"/>
            <a:ext cx="2743200" cy="64008"/>
          </a:xfrm>
          <a:prstGeom prst="rect">
            <a:avLst/>
          </a:prstGeom>
          <a:solidFill>
            <a:srgbClr val="0A9396"/>
          </a:solidFill>
          <a:ln/>
        </p:spPr>
      </p:sp>
      <p:sp>
        <p:nvSpPr>
          <p:cNvPr id="10" name="Text 8"/>
          <p:cNvSpPr/>
          <p:nvPr/>
        </p:nvSpPr>
        <p:spPr>
          <a:xfrm>
            <a:off x="457200" y="1828800"/>
            <a:ext cx="246888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Metadata Hub</a:t>
            </a:r>
            <a:endParaRPr lang="en-US" sz="1300" dirty="0"/>
          </a:p>
        </p:txBody>
      </p:sp>
      <p:sp>
        <p:nvSpPr>
          <p:cNvPr id="11" name="Text 9"/>
          <p:cNvSpPr/>
          <p:nvPr/>
        </p:nvSpPr>
        <p:spPr>
          <a:xfrm>
            <a:off x="457200" y="2121408"/>
            <a:ext cx="2468880" cy="118872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Captures all feed acquisition metadata in a centralized database — the single source of truth for downstream systems.</a:t>
            </a:r>
            <a:endParaRPr lang="en-US" sz="1100" dirty="0"/>
          </a:p>
        </p:txBody>
      </p:sp>
      <p:sp>
        <p:nvSpPr>
          <p:cNvPr id="12" name="Shape 10"/>
          <p:cNvSpPr/>
          <p:nvPr/>
        </p:nvSpPr>
        <p:spPr>
          <a:xfrm>
            <a:off x="3172968" y="1737360"/>
            <a:ext cx="274320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3" name="Shape 11"/>
          <p:cNvSpPr/>
          <p:nvPr/>
        </p:nvSpPr>
        <p:spPr>
          <a:xfrm>
            <a:off x="3172968" y="1737360"/>
            <a:ext cx="2743200" cy="64008"/>
          </a:xfrm>
          <a:prstGeom prst="rect">
            <a:avLst/>
          </a:prstGeom>
          <a:solidFill>
            <a:srgbClr val="C1121F"/>
          </a:solidFill>
          <a:ln/>
        </p:spPr>
      </p:sp>
      <p:sp>
        <p:nvSpPr>
          <p:cNvPr id="14" name="Text 12"/>
          <p:cNvSpPr/>
          <p:nvPr/>
        </p:nvSpPr>
        <p:spPr>
          <a:xfrm>
            <a:off x="3310128" y="1828800"/>
            <a:ext cx="246888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AI-Powered Engine</a:t>
            </a:r>
            <a:endParaRPr lang="en-US" sz="1300" dirty="0"/>
          </a:p>
        </p:txBody>
      </p:sp>
      <p:sp>
        <p:nvSpPr>
          <p:cNvPr id="15" name="Text 13"/>
          <p:cNvSpPr/>
          <p:nvPr/>
        </p:nvSpPr>
        <p:spPr>
          <a:xfrm>
            <a:off x="3310128" y="2121408"/>
            <a:ext cx="2468880" cy="118872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Custom AI Agents use Sourcing Skills to automatically generate Airflow DAGs, task configs, datasets, and curation tasks.</a:t>
            </a:r>
            <a:endParaRPr lang="en-US" sz="1100" dirty="0"/>
          </a:p>
        </p:txBody>
      </p:sp>
      <p:sp>
        <p:nvSpPr>
          <p:cNvPr id="16" name="Shape 14"/>
          <p:cNvSpPr/>
          <p:nvPr/>
        </p:nvSpPr>
        <p:spPr>
          <a:xfrm>
            <a:off x="6025896" y="1737360"/>
            <a:ext cx="274320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7" name="Shape 15"/>
          <p:cNvSpPr/>
          <p:nvPr/>
        </p:nvSpPr>
        <p:spPr>
          <a:xfrm>
            <a:off x="6025896" y="1737360"/>
            <a:ext cx="2743200" cy="64008"/>
          </a:xfrm>
          <a:prstGeom prst="rect">
            <a:avLst/>
          </a:prstGeom>
          <a:solidFill>
            <a:srgbClr val="E9C46A"/>
          </a:solidFill>
          <a:ln/>
        </p:spPr>
      </p:sp>
      <p:sp>
        <p:nvSpPr>
          <p:cNvPr id="18" name="Text 16"/>
          <p:cNvSpPr/>
          <p:nvPr/>
        </p:nvSpPr>
        <p:spPr>
          <a:xfrm>
            <a:off x="6163056" y="1828800"/>
            <a:ext cx="246888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Governed Pipeline</a:t>
            </a:r>
            <a:endParaRPr lang="en-US" sz="1300" dirty="0"/>
          </a:p>
        </p:txBody>
      </p:sp>
      <p:sp>
        <p:nvSpPr>
          <p:cNvPr id="19" name="Text 17"/>
          <p:cNvSpPr/>
          <p:nvPr/>
        </p:nvSpPr>
        <p:spPr>
          <a:xfrm>
            <a:off x="6163056" y="2121408"/>
            <a:ext cx="2468880" cy="118872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Every feed goes through a formal approval workflow before promotion to DEV, ensuring compliance and data integrity.</a:t>
            </a:r>
            <a:endParaRPr lang="en-US" sz="1100" dirty="0"/>
          </a:p>
        </p:txBody>
      </p:sp>
      <p:sp>
        <p:nvSpPr>
          <p:cNvPr id="20" name="Text 18"/>
          <p:cNvSpPr/>
          <p:nvPr/>
        </p:nvSpPr>
        <p:spPr>
          <a:xfrm>
            <a:off x="320040" y="4480560"/>
            <a:ext cx="8503920" cy="274320"/>
          </a:xfrm>
          <a:prstGeom prst="rect">
            <a:avLst/>
          </a:prstGeom>
          <a:noFill/>
          <a:ln/>
        </p:spPr>
        <p:txBody>
          <a:bodyPr wrap="square" lIns="0" tIns="0" rIns="0" bIns="0" rtlCol="0" anchor="ctr"/>
          <a:lstStyle/>
          <a:p>
            <a:pPr algn="ctr" indent="0" marL="0">
              <a:buNone/>
            </a:pPr>
            <a:r>
              <a:rPr lang="en-US" sz="1000" i="1" dirty="0">
                <a:solidFill>
                  <a:srgbClr val="8EABC0"/>
                </a:solidFill>
                <a:latin typeface="Calibri" pitchFamily="34" charset="0"/>
                <a:ea typeface="Calibri" pitchFamily="34" charset="-122"/>
                <a:cs typeface="Calibri" pitchFamily="34" charset="-120"/>
              </a:rPr>
              <a:t>Built by UBS ampliFi  |  Powered by Custom AI Agents  |  Deployed via Git-CI / UBSDeploy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02  |  Business Problem It Solves</a:t>
            </a:r>
            <a:endParaRPr lang="en-US" sz="2000" dirty="0"/>
          </a:p>
        </p:txBody>
      </p:sp>
      <p:sp>
        <p:nvSpPr>
          <p:cNvPr id="5" name="Shape 3"/>
          <p:cNvSpPr/>
          <p:nvPr/>
        </p:nvSpPr>
        <p:spPr>
          <a:xfrm>
            <a:off x="320040" y="640080"/>
            <a:ext cx="4114800" cy="41148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Shape 4"/>
          <p:cNvSpPr/>
          <p:nvPr/>
        </p:nvSpPr>
        <p:spPr>
          <a:xfrm>
            <a:off x="320040" y="640080"/>
            <a:ext cx="4114800" cy="347472"/>
          </a:xfrm>
          <a:prstGeom prst="rect">
            <a:avLst/>
          </a:prstGeom>
          <a:solidFill>
            <a:srgbClr val="C1121F"/>
          </a:solidFill>
          <a:ln/>
        </p:spPr>
      </p:sp>
      <p:sp>
        <p:nvSpPr>
          <p:cNvPr id="7" name="Text 5"/>
          <p:cNvSpPr/>
          <p:nvPr/>
        </p:nvSpPr>
        <p:spPr>
          <a:xfrm>
            <a:off x="411480" y="658368"/>
            <a:ext cx="39319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PROBLEMS  (From PRC / ARB Submissions)</a:t>
            </a:r>
            <a:endParaRPr lang="en-US" sz="1100" dirty="0"/>
          </a:p>
        </p:txBody>
      </p:sp>
      <p:sp>
        <p:nvSpPr>
          <p:cNvPr id="8" name="Text 6"/>
          <p:cNvSpPr/>
          <p:nvPr/>
        </p:nvSpPr>
        <p:spPr>
          <a:xfrm>
            <a:off x="502920" y="1078992"/>
            <a:ext cx="3749040" cy="3520440"/>
          </a:xfrm>
          <a:prstGeom prst="rect">
            <a:avLst/>
          </a:prstGeom>
          <a:noFill/>
          <a:ln/>
        </p:spPr>
        <p:txBody>
          <a:bodyPr wrap="square" rtlCol="0" anchor="ctr"/>
          <a:lstStyle/>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Increasing volume &amp; complexity of external finance data</a:t>
            </a:r>
            <a:endParaRPr lang="en-US" sz="1200" dirty="0"/>
          </a:p>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No standard onboarding mechanism across teams</a:t>
            </a:r>
            <a:endParaRPr lang="en-US" sz="1200" dirty="0"/>
          </a:p>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Manual onboarding causing inefficiency</a:t>
            </a:r>
            <a:endParaRPr lang="en-US" sz="1200" dirty="0"/>
          </a:p>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Inconsistent controls across feeds</a:t>
            </a:r>
            <a:endParaRPr lang="en-US" sz="1200" dirty="0"/>
          </a:p>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Risk to data integrity from ad-hoc processes</a:t>
            </a:r>
            <a:endParaRPr lang="en-US" sz="1200" dirty="0"/>
          </a:p>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No central metadata repository for downstream systems</a:t>
            </a:r>
            <a:endParaRPr lang="en-US" sz="1200" dirty="0"/>
          </a:p>
        </p:txBody>
      </p:sp>
      <p:sp>
        <p:nvSpPr>
          <p:cNvPr id="9" name="Shape 7"/>
          <p:cNvSpPr/>
          <p:nvPr/>
        </p:nvSpPr>
        <p:spPr>
          <a:xfrm>
            <a:off x="4754880" y="640080"/>
            <a:ext cx="4069080" cy="4114800"/>
          </a:xfrm>
          <a:prstGeom prst="rect">
            <a:avLst/>
          </a:prstGeom>
          <a:solidFill>
            <a:srgbClr val="0D1B2A"/>
          </a:solidFill>
          <a:ln/>
          <a:effectLst>
            <a:outerShdw sx="100000" sy="100000" kx="0" ky="0" algn="bl" rotWithShape="0" blurRad="76200" dist="25400" dir="8100000">
              <a:srgbClr val="000000">
                <a:alpha val="15000"/>
              </a:srgbClr>
            </a:outerShdw>
          </a:effectLst>
        </p:spPr>
      </p:sp>
      <p:sp>
        <p:nvSpPr>
          <p:cNvPr id="10" name="Shape 8"/>
          <p:cNvSpPr/>
          <p:nvPr/>
        </p:nvSpPr>
        <p:spPr>
          <a:xfrm>
            <a:off x="4754880" y="640080"/>
            <a:ext cx="4069080" cy="347472"/>
          </a:xfrm>
          <a:prstGeom prst="rect">
            <a:avLst/>
          </a:prstGeom>
          <a:solidFill>
            <a:srgbClr val="0A9396"/>
          </a:solidFill>
          <a:ln/>
        </p:spPr>
      </p:sp>
      <p:sp>
        <p:nvSpPr>
          <p:cNvPr id="11" name="Text 9"/>
          <p:cNvSpPr/>
          <p:nvPr/>
        </p:nvSpPr>
        <p:spPr>
          <a:xfrm>
            <a:off x="4846320" y="658368"/>
            <a:ext cx="388620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SOLUTION  —  ampliFi Acquisition App</a:t>
            </a:r>
            <a:endParaRPr lang="en-US" sz="1100" dirty="0"/>
          </a:p>
        </p:txBody>
      </p:sp>
      <p:sp>
        <p:nvSpPr>
          <p:cNvPr id="12" name="Text 10"/>
          <p:cNvSpPr/>
          <p:nvPr/>
        </p:nvSpPr>
        <p:spPr>
          <a:xfrm>
            <a:off x="4892040" y="1078992"/>
            <a:ext cx="3749040" cy="3520440"/>
          </a:xfrm>
          <a:prstGeom prst="rect">
            <a:avLst/>
          </a:prstGeom>
          <a:noFill/>
          <a:ln/>
        </p:spPr>
        <p:txBody>
          <a:bodyPr wrap="square" rtlCol="0" anchor="ctr"/>
          <a:lstStyle/>
          <a:p>
            <a:pPr marL="342900" indent="-342900">
              <a:spcAft>
                <a:spcPts val="400"/>
              </a:spcAft>
              <a:buSzPct val="100000"/>
              <a:buChar char="•"/>
            </a:pPr>
            <a:r>
              <a:rPr lang="en-US" sz="1200" dirty="0">
                <a:solidFill>
                  <a:srgbClr val="94D2BD"/>
                </a:solidFill>
                <a:latin typeface="Calibri" pitchFamily="34" charset="0"/>
                <a:ea typeface="Calibri" pitchFamily="34" charset="-122"/>
                <a:cs typeface="Calibri" pitchFamily="34" charset="-120"/>
              </a:rPr>
              <a:t>Single governed entry point for ALL external feeds</a:t>
            </a:r>
            <a:endParaRPr lang="en-US" sz="1200" dirty="0"/>
          </a:p>
          <a:p>
            <a:pPr marL="342900" indent="-342900">
              <a:spcAft>
                <a:spcPts val="400"/>
              </a:spcAft>
              <a:buSzPct val="100000"/>
              <a:buChar char="•"/>
            </a:pPr>
            <a:r>
              <a:rPr lang="en-US" sz="1200" dirty="0">
                <a:solidFill>
                  <a:srgbClr val="94D2BD"/>
                </a:solidFill>
                <a:latin typeface="Calibri" pitchFamily="34" charset="0"/>
                <a:ea typeface="Calibri" pitchFamily="34" charset="-122"/>
                <a:cs typeface="Calibri" pitchFamily="34" charset="-120"/>
              </a:rPr>
              <a:t>Standardized metadata capture via Feed Passport template</a:t>
            </a:r>
            <a:endParaRPr lang="en-US" sz="1200" dirty="0"/>
          </a:p>
          <a:p>
            <a:pPr marL="342900" indent="-342900">
              <a:spcAft>
                <a:spcPts val="400"/>
              </a:spcAft>
              <a:buSzPct val="100000"/>
              <a:buChar char="•"/>
            </a:pPr>
            <a:r>
              <a:rPr lang="en-US" sz="1200" dirty="0">
                <a:solidFill>
                  <a:srgbClr val="94D2BD"/>
                </a:solidFill>
                <a:latin typeface="Calibri" pitchFamily="34" charset="0"/>
                <a:ea typeface="Calibri" pitchFamily="34" charset="-122"/>
                <a:cs typeface="Calibri" pitchFamily="34" charset="-120"/>
              </a:rPr>
              <a:t>Automated AI-driven artifact generation (DAGs, configs, datasets)</a:t>
            </a:r>
            <a:endParaRPr lang="en-US" sz="1200" dirty="0"/>
          </a:p>
          <a:p>
            <a:pPr marL="342900" indent="-342900">
              <a:spcAft>
                <a:spcPts val="400"/>
              </a:spcAft>
              <a:buSzPct val="100000"/>
              <a:buChar char="•"/>
            </a:pPr>
            <a:r>
              <a:rPr lang="en-US" sz="1200" dirty="0">
                <a:solidFill>
                  <a:srgbClr val="94D2BD"/>
                </a:solidFill>
                <a:latin typeface="Calibri" pitchFamily="34" charset="0"/>
                <a:ea typeface="Calibri" pitchFamily="34" charset="-122"/>
                <a:cs typeface="Calibri" pitchFamily="34" charset="-120"/>
              </a:rPr>
              <a:t>Formal approval workflow with PO / Tech Lead sign-off</a:t>
            </a:r>
            <a:endParaRPr lang="en-US" sz="1200" dirty="0"/>
          </a:p>
          <a:p>
            <a:pPr marL="342900" indent="-342900">
              <a:spcAft>
                <a:spcPts val="400"/>
              </a:spcAft>
              <a:buSzPct val="100000"/>
              <a:buChar char="•"/>
            </a:pPr>
            <a:r>
              <a:rPr lang="en-US" sz="1200" dirty="0">
                <a:solidFill>
                  <a:srgbClr val="94D2BD"/>
                </a:solidFill>
                <a:latin typeface="Calibri" pitchFamily="34" charset="0"/>
                <a:ea typeface="Calibri" pitchFamily="34" charset="-122"/>
                <a:cs typeface="Calibri" pitchFamily="34" charset="-120"/>
              </a:rPr>
              <a:t>Central Acquisition App DB as metadata repository</a:t>
            </a:r>
            <a:endParaRPr lang="en-US" sz="1200" dirty="0"/>
          </a:p>
          <a:p>
            <a:pPr marL="342900" indent="-342900">
              <a:spcAft>
                <a:spcPts val="400"/>
              </a:spcAft>
              <a:buSzPct val="100000"/>
              <a:buChar char="•"/>
            </a:pPr>
            <a:r>
              <a:rPr lang="en-US" sz="1200" dirty="0">
                <a:solidFill>
                  <a:srgbClr val="94D2BD"/>
                </a:solidFill>
                <a:latin typeface="Calibri" pitchFamily="34" charset="0"/>
                <a:ea typeface="Calibri" pitchFamily="34" charset="-122"/>
                <a:cs typeface="Calibri" pitchFamily="34" charset="-120"/>
              </a:rPr>
              <a:t>Auto-deployment via Git-CI / UBSDeploy to DEV</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03  |  Key Purpose &amp; Goals</a:t>
            </a:r>
            <a:endParaRPr lang="en-US" sz="2000" dirty="0"/>
          </a:p>
        </p:txBody>
      </p:sp>
      <p:sp>
        <p:nvSpPr>
          <p:cNvPr id="5" name="Shape 3"/>
          <p:cNvSpPr/>
          <p:nvPr/>
        </p:nvSpPr>
        <p:spPr>
          <a:xfrm>
            <a:off x="320040" y="658368"/>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20040" y="658368"/>
            <a:ext cx="54864" cy="1874520"/>
          </a:xfrm>
          <a:prstGeom prst="rect">
            <a:avLst/>
          </a:prstGeom>
          <a:solidFill>
            <a:srgbClr val="0A9396"/>
          </a:solidFill>
          <a:ln/>
        </p:spPr>
      </p:sp>
      <p:sp>
        <p:nvSpPr>
          <p:cNvPr id="7" name="Text 5"/>
          <p:cNvSpPr/>
          <p:nvPr/>
        </p:nvSpPr>
        <p:spPr>
          <a:xfrm>
            <a:off x="457200" y="749808"/>
            <a:ext cx="411480" cy="4114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457200" y="1161288"/>
            <a:ext cx="246888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Centralized Onboarding</a:t>
            </a:r>
            <a:endParaRPr lang="en-US" sz="1200" dirty="0"/>
          </a:p>
        </p:txBody>
      </p:sp>
      <p:sp>
        <p:nvSpPr>
          <p:cNvPr id="9" name="Text 7"/>
          <p:cNvSpPr/>
          <p:nvPr/>
        </p:nvSpPr>
        <p:spPr>
          <a:xfrm>
            <a:off x="457200" y="1453896"/>
            <a:ext cx="2468880" cy="10058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Single entry point for all externally sourced data feeds entering Finance.</a:t>
            </a:r>
            <a:endParaRPr lang="en-US" sz="1050" dirty="0"/>
          </a:p>
        </p:txBody>
      </p:sp>
      <p:sp>
        <p:nvSpPr>
          <p:cNvPr id="10" name="Shape 8"/>
          <p:cNvSpPr/>
          <p:nvPr/>
        </p:nvSpPr>
        <p:spPr>
          <a:xfrm>
            <a:off x="3172968" y="658368"/>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1" name="Shape 9"/>
          <p:cNvSpPr/>
          <p:nvPr/>
        </p:nvSpPr>
        <p:spPr>
          <a:xfrm>
            <a:off x="3172968" y="658368"/>
            <a:ext cx="54864" cy="1874520"/>
          </a:xfrm>
          <a:prstGeom prst="rect">
            <a:avLst/>
          </a:prstGeom>
          <a:solidFill>
            <a:srgbClr val="0A9396"/>
          </a:solidFill>
          <a:ln/>
        </p:spPr>
      </p:sp>
      <p:sp>
        <p:nvSpPr>
          <p:cNvPr id="12" name="Text 10"/>
          <p:cNvSpPr/>
          <p:nvPr/>
        </p:nvSpPr>
        <p:spPr>
          <a:xfrm>
            <a:off x="3310128" y="749808"/>
            <a:ext cx="411480" cy="4114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3310128" y="1161288"/>
            <a:ext cx="246888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Technical Controls &amp; Governance</a:t>
            </a:r>
            <a:endParaRPr lang="en-US" sz="1200" dirty="0"/>
          </a:p>
        </p:txBody>
      </p:sp>
      <p:sp>
        <p:nvSpPr>
          <p:cNvPr id="14" name="Text 12"/>
          <p:cNvSpPr/>
          <p:nvPr/>
        </p:nvSpPr>
        <p:spPr>
          <a:xfrm>
            <a:off x="3310128" y="1453896"/>
            <a:ext cx="2468880" cy="10058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Enforce standards, compliance checks, and schema validation on every feed.</a:t>
            </a:r>
            <a:endParaRPr lang="en-US" sz="1050" dirty="0"/>
          </a:p>
        </p:txBody>
      </p:sp>
      <p:sp>
        <p:nvSpPr>
          <p:cNvPr id="15" name="Shape 13"/>
          <p:cNvSpPr/>
          <p:nvPr/>
        </p:nvSpPr>
        <p:spPr>
          <a:xfrm>
            <a:off x="6025896" y="658368"/>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6" name="Shape 14"/>
          <p:cNvSpPr/>
          <p:nvPr/>
        </p:nvSpPr>
        <p:spPr>
          <a:xfrm>
            <a:off x="6025896" y="658368"/>
            <a:ext cx="54864" cy="1874520"/>
          </a:xfrm>
          <a:prstGeom prst="rect">
            <a:avLst/>
          </a:prstGeom>
          <a:solidFill>
            <a:srgbClr val="0A9396"/>
          </a:solidFill>
          <a:ln/>
        </p:spPr>
      </p:sp>
      <p:sp>
        <p:nvSpPr>
          <p:cNvPr id="17" name="Text 15"/>
          <p:cNvSpPr/>
          <p:nvPr/>
        </p:nvSpPr>
        <p:spPr>
          <a:xfrm>
            <a:off x="6163056" y="749808"/>
            <a:ext cx="411480" cy="4114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6163056" y="1161288"/>
            <a:ext cx="246888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Formal Feed Oversight</a:t>
            </a:r>
            <a:endParaRPr lang="en-US" sz="1200" dirty="0"/>
          </a:p>
        </p:txBody>
      </p:sp>
      <p:sp>
        <p:nvSpPr>
          <p:cNvPr id="19" name="Text 17"/>
          <p:cNvSpPr/>
          <p:nvPr/>
        </p:nvSpPr>
        <p:spPr>
          <a:xfrm>
            <a:off x="6163056" y="1453896"/>
            <a:ext cx="2468880" cy="10058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Every feed requires PO / Tech Lead approval before advancing in the pipeline.</a:t>
            </a:r>
            <a:endParaRPr lang="en-US" sz="1050" dirty="0"/>
          </a:p>
        </p:txBody>
      </p:sp>
      <p:sp>
        <p:nvSpPr>
          <p:cNvPr id="20" name="Shape 18"/>
          <p:cNvSpPr/>
          <p:nvPr/>
        </p:nvSpPr>
        <p:spPr>
          <a:xfrm>
            <a:off x="320040" y="265176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1" name="Shape 19"/>
          <p:cNvSpPr/>
          <p:nvPr/>
        </p:nvSpPr>
        <p:spPr>
          <a:xfrm>
            <a:off x="320040" y="2651760"/>
            <a:ext cx="54864" cy="1874520"/>
          </a:xfrm>
          <a:prstGeom prst="rect">
            <a:avLst/>
          </a:prstGeom>
          <a:solidFill>
            <a:srgbClr val="C1121F"/>
          </a:solidFill>
          <a:ln/>
        </p:spPr>
      </p:sp>
      <p:sp>
        <p:nvSpPr>
          <p:cNvPr id="22" name="Text 20"/>
          <p:cNvSpPr/>
          <p:nvPr/>
        </p:nvSpPr>
        <p:spPr>
          <a:xfrm>
            <a:off x="457200" y="2743200"/>
            <a:ext cx="411480" cy="4114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457200" y="3154680"/>
            <a:ext cx="246888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Reduce Manual Effort</a:t>
            </a:r>
            <a:endParaRPr lang="en-US" sz="1200" dirty="0"/>
          </a:p>
        </p:txBody>
      </p:sp>
      <p:sp>
        <p:nvSpPr>
          <p:cNvPr id="24" name="Text 22"/>
          <p:cNvSpPr/>
          <p:nvPr/>
        </p:nvSpPr>
        <p:spPr>
          <a:xfrm>
            <a:off x="457200" y="3447288"/>
            <a:ext cx="2468880" cy="10058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Automation via AI Agents and Skills replaces manual artifact creation.</a:t>
            </a:r>
            <a:endParaRPr lang="en-US" sz="1050" dirty="0"/>
          </a:p>
        </p:txBody>
      </p:sp>
      <p:sp>
        <p:nvSpPr>
          <p:cNvPr id="25" name="Shape 23"/>
          <p:cNvSpPr/>
          <p:nvPr/>
        </p:nvSpPr>
        <p:spPr>
          <a:xfrm>
            <a:off x="3172968" y="265176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6" name="Shape 24"/>
          <p:cNvSpPr/>
          <p:nvPr/>
        </p:nvSpPr>
        <p:spPr>
          <a:xfrm>
            <a:off x="3172968" y="2651760"/>
            <a:ext cx="54864" cy="1874520"/>
          </a:xfrm>
          <a:prstGeom prst="rect">
            <a:avLst/>
          </a:prstGeom>
          <a:solidFill>
            <a:srgbClr val="C1121F"/>
          </a:solidFill>
          <a:ln/>
        </p:spPr>
      </p:sp>
      <p:sp>
        <p:nvSpPr>
          <p:cNvPr id="27" name="Text 25"/>
          <p:cNvSpPr/>
          <p:nvPr/>
        </p:nvSpPr>
        <p:spPr>
          <a:xfrm>
            <a:off x="3310128" y="2743200"/>
            <a:ext cx="411480" cy="4114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3310128" y="3154680"/>
            <a:ext cx="246888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Metadata Repository</a:t>
            </a:r>
            <a:endParaRPr lang="en-US" sz="1200" dirty="0"/>
          </a:p>
        </p:txBody>
      </p:sp>
      <p:sp>
        <p:nvSpPr>
          <p:cNvPr id="29" name="Text 27"/>
          <p:cNvSpPr/>
          <p:nvPr/>
        </p:nvSpPr>
        <p:spPr>
          <a:xfrm>
            <a:off x="3310128" y="3447288"/>
            <a:ext cx="2468880" cy="10058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Acquisition App DB serves as the authoritative source for all downstream systems.</a:t>
            </a:r>
            <a:endParaRPr lang="en-US" sz="1050" dirty="0"/>
          </a:p>
        </p:txBody>
      </p:sp>
      <p:sp>
        <p:nvSpPr>
          <p:cNvPr id="30" name="Shape 28"/>
          <p:cNvSpPr/>
          <p:nvPr/>
        </p:nvSpPr>
        <p:spPr>
          <a:xfrm>
            <a:off x="6025896" y="265176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31" name="Shape 29"/>
          <p:cNvSpPr/>
          <p:nvPr/>
        </p:nvSpPr>
        <p:spPr>
          <a:xfrm>
            <a:off x="6025896" y="2651760"/>
            <a:ext cx="54864" cy="1874520"/>
          </a:xfrm>
          <a:prstGeom prst="rect">
            <a:avLst/>
          </a:prstGeom>
          <a:solidFill>
            <a:srgbClr val="C1121F"/>
          </a:solidFill>
          <a:ln/>
        </p:spPr>
      </p:sp>
      <p:sp>
        <p:nvSpPr>
          <p:cNvPr id="32" name="Text 30"/>
          <p:cNvSpPr/>
          <p:nvPr/>
        </p:nvSpPr>
        <p:spPr>
          <a:xfrm>
            <a:off x="6163056" y="2743200"/>
            <a:ext cx="411480" cy="4114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3" name="Text 31"/>
          <p:cNvSpPr/>
          <p:nvPr/>
        </p:nvSpPr>
        <p:spPr>
          <a:xfrm>
            <a:off x="6163056" y="3154680"/>
            <a:ext cx="246888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AI-Generated Artifacts</a:t>
            </a:r>
            <a:endParaRPr lang="en-US" sz="1200" dirty="0"/>
          </a:p>
        </p:txBody>
      </p:sp>
      <p:sp>
        <p:nvSpPr>
          <p:cNvPr id="34" name="Text 32"/>
          <p:cNvSpPr/>
          <p:nvPr/>
        </p:nvSpPr>
        <p:spPr>
          <a:xfrm>
            <a:off x="6163056" y="3447288"/>
            <a:ext cx="2468880" cy="10058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Automatically produce Airflow DAGs, task configs, datasets &amp; curation tasks.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04  |  System Architecture — Proposed Final Workflow</a:t>
            </a:r>
            <a:endParaRPr lang="en-US" sz="2000" dirty="0"/>
          </a:p>
        </p:txBody>
      </p:sp>
      <p:sp>
        <p:nvSpPr>
          <p:cNvPr id="5" name="Shape 3"/>
          <p:cNvSpPr/>
          <p:nvPr/>
        </p:nvSpPr>
        <p:spPr>
          <a:xfrm>
            <a:off x="274320" y="731520"/>
            <a:ext cx="1508760" cy="868680"/>
          </a:xfrm>
          <a:prstGeom prst="rect">
            <a:avLst/>
          </a:prstGeom>
          <a:solidFill>
            <a:srgbClr val="0D1B2A"/>
          </a:solidFill>
          <a:ln/>
          <a:effectLst>
            <a:outerShdw sx="100000" sy="100000" kx="0" ky="0" algn="bl" rotWithShape="0" blurRad="50800" dist="25400" dir="8100000">
              <a:srgbClr val="000000">
                <a:alpha val="15000"/>
              </a:srgbClr>
            </a:outerShdw>
          </a:effectLst>
        </p:spPr>
      </p:sp>
      <p:sp>
        <p:nvSpPr>
          <p:cNvPr id="6" name="Text 4"/>
          <p:cNvSpPr/>
          <p:nvPr/>
        </p:nvSpPr>
        <p:spPr>
          <a:xfrm>
            <a:off x="320040" y="77724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Feed Sources</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(GEAR/GGL/Non-ASD)</a:t>
            </a:r>
            <a:endParaRPr lang="en-US" sz="850" dirty="0"/>
          </a:p>
        </p:txBody>
      </p:sp>
      <p:sp>
        <p:nvSpPr>
          <p:cNvPr id="7" name="Shape 5"/>
          <p:cNvSpPr/>
          <p:nvPr/>
        </p:nvSpPr>
        <p:spPr>
          <a:xfrm>
            <a:off x="274320" y="1920240"/>
            <a:ext cx="1508760" cy="868680"/>
          </a:xfrm>
          <a:prstGeom prst="rect">
            <a:avLst/>
          </a:prstGeom>
          <a:solidFill>
            <a:srgbClr val="0A9396"/>
          </a:solidFill>
          <a:ln/>
          <a:effectLst>
            <a:outerShdw sx="100000" sy="100000" kx="0" ky="0" algn="bl" rotWithShape="0" blurRad="50800" dist="25400" dir="8100000">
              <a:srgbClr val="000000">
                <a:alpha val="15000"/>
              </a:srgbClr>
            </a:outerShdw>
          </a:effectLst>
        </p:spPr>
      </p:sp>
      <p:sp>
        <p:nvSpPr>
          <p:cNvPr id="8" name="Text 6"/>
          <p:cNvSpPr/>
          <p:nvPr/>
        </p:nvSpPr>
        <p:spPr>
          <a:xfrm>
            <a:off x="320040" y="196596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Sourcing Skills</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(acquisition-spec)</a:t>
            </a:r>
            <a:endParaRPr lang="en-US" sz="850" dirty="0"/>
          </a:p>
        </p:txBody>
      </p:sp>
      <p:sp>
        <p:nvSpPr>
          <p:cNvPr id="9" name="Shape 7"/>
          <p:cNvSpPr/>
          <p:nvPr/>
        </p:nvSpPr>
        <p:spPr>
          <a:xfrm>
            <a:off x="1828800" y="2606040"/>
            <a:ext cx="1508760" cy="868680"/>
          </a:xfrm>
          <a:prstGeom prst="rect">
            <a:avLst/>
          </a:prstGeom>
          <a:solidFill>
            <a:srgbClr val="C1121F"/>
          </a:solidFill>
          <a:ln/>
          <a:effectLst>
            <a:outerShdw sx="100000" sy="100000" kx="0" ky="0" algn="bl" rotWithShape="0" blurRad="50800" dist="25400" dir="8100000">
              <a:srgbClr val="000000">
                <a:alpha val="15000"/>
              </a:srgbClr>
            </a:outerShdw>
          </a:effectLst>
        </p:spPr>
      </p:sp>
      <p:sp>
        <p:nvSpPr>
          <p:cNvPr id="10" name="Text 8"/>
          <p:cNvSpPr/>
          <p:nvPr/>
        </p:nvSpPr>
        <p:spPr>
          <a:xfrm>
            <a:off x="1874520" y="265176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Acquisition App UI</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(Metadata)</a:t>
            </a:r>
            <a:endParaRPr lang="en-US" sz="850" dirty="0"/>
          </a:p>
        </p:txBody>
      </p:sp>
      <p:sp>
        <p:nvSpPr>
          <p:cNvPr id="11" name="Shape 9"/>
          <p:cNvSpPr/>
          <p:nvPr/>
        </p:nvSpPr>
        <p:spPr>
          <a:xfrm>
            <a:off x="1828800" y="3611880"/>
            <a:ext cx="1508760" cy="868680"/>
          </a:xfrm>
          <a:prstGeom prst="rect">
            <a:avLst/>
          </a:prstGeom>
          <a:solidFill>
            <a:srgbClr val="1A2E45"/>
          </a:solidFill>
          <a:ln/>
          <a:effectLst>
            <a:outerShdw sx="100000" sy="100000" kx="0" ky="0" algn="bl" rotWithShape="0" blurRad="50800" dist="25400" dir="8100000">
              <a:srgbClr val="000000">
                <a:alpha val="15000"/>
              </a:srgbClr>
            </a:outerShdw>
          </a:effectLst>
        </p:spPr>
      </p:sp>
      <p:sp>
        <p:nvSpPr>
          <p:cNvPr id="12" name="Text 10"/>
          <p:cNvSpPr/>
          <p:nvPr/>
        </p:nvSpPr>
        <p:spPr>
          <a:xfrm>
            <a:off x="1874520" y="365760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Metadata Approval</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by Sourcing Crew</a:t>
            </a:r>
            <a:endParaRPr lang="en-US" sz="850" dirty="0"/>
          </a:p>
        </p:txBody>
      </p:sp>
      <p:sp>
        <p:nvSpPr>
          <p:cNvPr id="13" name="Shape 11"/>
          <p:cNvSpPr/>
          <p:nvPr/>
        </p:nvSpPr>
        <p:spPr>
          <a:xfrm>
            <a:off x="3657600" y="731520"/>
            <a:ext cx="1508760" cy="868680"/>
          </a:xfrm>
          <a:prstGeom prst="rect">
            <a:avLst/>
          </a:prstGeom>
          <a:solidFill>
            <a:srgbClr val="0A9396"/>
          </a:solidFill>
          <a:ln/>
          <a:effectLst>
            <a:outerShdw sx="100000" sy="100000" kx="0" ky="0" algn="bl" rotWithShape="0" blurRad="50800" dist="25400" dir="8100000">
              <a:srgbClr val="000000">
                <a:alpha val="15000"/>
              </a:srgbClr>
            </a:outerShdw>
          </a:effectLst>
        </p:spPr>
      </p:sp>
      <p:sp>
        <p:nvSpPr>
          <p:cNvPr id="14" name="Text 12"/>
          <p:cNvSpPr/>
          <p:nvPr/>
        </p:nvSpPr>
        <p:spPr>
          <a:xfrm>
            <a:off x="3703320" y="77724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Custom AI Agent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+Sourcing Skills</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(acquisition-artefacts)</a:t>
            </a:r>
            <a:endParaRPr lang="en-US" sz="850" dirty="0"/>
          </a:p>
        </p:txBody>
      </p:sp>
      <p:sp>
        <p:nvSpPr>
          <p:cNvPr id="15" name="Shape 13"/>
          <p:cNvSpPr/>
          <p:nvPr/>
        </p:nvSpPr>
        <p:spPr>
          <a:xfrm>
            <a:off x="5943600" y="731520"/>
            <a:ext cx="1508760" cy="868680"/>
          </a:xfrm>
          <a:prstGeom prst="rect">
            <a:avLst/>
          </a:prstGeom>
          <a:solidFill>
            <a:srgbClr val="1A2E45"/>
          </a:solidFill>
          <a:ln/>
          <a:effectLst>
            <a:outerShdw sx="100000" sy="100000" kx="0" ky="0" algn="bl" rotWithShape="0" blurRad="50800" dist="25400" dir="8100000">
              <a:srgbClr val="000000">
                <a:alpha val="15000"/>
              </a:srgbClr>
            </a:outerShdw>
          </a:effectLst>
        </p:spPr>
      </p:sp>
      <p:sp>
        <p:nvSpPr>
          <p:cNvPr id="16" name="Text 14"/>
          <p:cNvSpPr/>
          <p:nvPr/>
        </p:nvSpPr>
        <p:spPr>
          <a:xfrm>
            <a:off x="5989320" y="77724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GitLab Repo</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(MR)</a:t>
            </a:r>
            <a:endParaRPr lang="en-US" sz="850" dirty="0"/>
          </a:p>
        </p:txBody>
      </p:sp>
      <p:sp>
        <p:nvSpPr>
          <p:cNvPr id="17" name="Shape 15"/>
          <p:cNvSpPr/>
          <p:nvPr/>
        </p:nvSpPr>
        <p:spPr>
          <a:xfrm>
            <a:off x="7498080" y="731520"/>
            <a:ext cx="1508760" cy="868680"/>
          </a:xfrm>
          <a:prstGeom prst="rect">
            <a:avLst/>
          </a:prstGeom>
          <a:solidFill>
            <a:srgbClr val="52B788"/>
          </a:solidFill>
          <a:ln/>
          <a:effectLst>
            <a:outerShdw sx="100000" sy="100000" kx="0" ky="0" algn="bl" rotWithShape="0" blurRad="50800" dist="25400" dir="8100000">
              <a:srgbClr val="000000">
                <a:alpha val="15000"/>
              </a:srgbClr>
            </a:outerShdw>
          </a:effectLst>
        </p:spPr>
      </p:sp>
      <p:sp>
        <p:nvSpPr>
          <p:cNvPr id="18" name="Text 16"/>
          <p:cNvSpPr/>
          <p:nvPr/>
        </p:nvSpPr>
        <p:spPr>
          <a:xfrm>
            <a:off x="7543800" y="77724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Promote MEG</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artefacts to DEV</a:t>
            </a:r>
            <a:endParaRPr lang="en-US" sz="850" dirty="0"/>
          </a:p>
        </p:txBody>
      </p:sp>
      <p:sp>
        <p:nvSpPr>
          <p:cNvPr id="19" name="Shape 17"/>
          <p:cNvSpPr/>
          <p:nvPr/>
        </p:nvSpPr>
        <p:spPr>
          <a:xfrm>
            <a:off x="3657600" y="2651760"/>
            <a:ext cx="1508760" cy="868680"/>
          </a:xfrm>
          <a:prstGeom prst="rect">
            <a:avLst/>
          </a:prstGeom>
          <a:solidFill>
            <a:srgbClr val="0A9396"/>
          </a:solidFill>
          <a:ln/>
          <a:effectLst>
            <a:outerShdw sx="100000" sy="100000" kx="0" ky="0" algn="bl" rotWithShape="0" blurRad="50800" dist="25400" dir="8100000">
              <a:srgbClr val="000000">
                <a:alpha val="15000"/>
              </a:srgbClr>
            </a:outerShdw>
          </a:effectLst>
        </p:spPr>
      </p:sp>
      <p:sp>
        <p:nvSpPr>
          <p:cNvPr id="20" name="Text 18"/>
          <p:cNvSpPr/>
          <p:nvPr/>
        </p:nvSpPr>
        <p:spPr>
          <a:xfrm>
            <a:off x="3703320" y="269748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Custom AI Agent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 GW Skills</a:t>
            </a:r>
            <a:endParaRPr lang="en-US" sz="850" dirty="0"/>
          </a:p>
        </p:txBody>
      </p:sp>
      <p:sp>
        <p:nvSpPr>
          <p:cNvPr id="21" name="Shape 19"/>
          <p:cNvSpPr/>
          <p:nvPr/>
        </p:nvSpPr>
        <p:spPr>
          <a:xfrm>
            <a:off x="5943600" y="2651760"/>
            <a:ext cx="1508760" cy="868680"/>
          </a:xfrm>
          <a:prstGeom prst="rect">
            <a:avLst/>
          </a:prstGeom>
          <a:solidFill>
            <a:srgbClr val="1A2E45"/>
          </a:solidFill>
          <a:ln/>
          <a:effectLst>
            <a:outerShdw sx="100000" sy="100000" kx="0" ky="0" algn="bl" rotWithShape="0" blurRad="50800" dist="25400" dir="8100000">
              <a:srgbClr val="000000">
                <a:alpha val="15000"/>
              </a:srgbClr>
            </a:outerShdw>
          </a:effectLst>
        </p:spPr>
      </p:sp>
      <p:sp>
        <p:nvSpPr>
          <p:cNvPr id="22" name="Text 20"/>
          <p:cNvSpPr/>
          <p:nvPr/>
        </p:nvSpPr>
        <p:spPr>
          <a:xfrm>
            <a:off x="5989320" y="269748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GitLab Repo</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(MR)</a:t>
            </a:r>
            <a:endParaRPr lang="en-US" sz="850" dirty="0"/>
          </a:p>
        </p:txBody>
      </p:sp>
      <p:sp>
        <p:nvSpPr>
          <p:cNvPr id="23" name="Shape 21"/>
          <p:cNvSpPr/>
          <p:nvPr/>
        </p:nvSpPr>
        <p:spPr>
          <a:xfrm>
            <a:off x="7498080" y="2651760"/>
            <a:ext cx="1508760" cy="868680"/>
          </a:xfrm>
          <a:prstGeom prst="rect">
            <a:avLst/>
          </a:prstGeom>
          <a:solidFill>
            <a:srgbClr val="52B788"/>
          </a:solidFill>
          <a:ln/>
          <a:effectLst>
            <a:outerShdw sx="100000" sy="100000" kx="0" ky="0" algn="bl" rotWithShape="0" blurRad="50800" dist="25400" dir="8100000">
              <a:srgbClr val="000000">
                <a:alpha val="15000"/>
              </a:srgbClr>
            </a:outerShdw>
          </a:effectLst>
        </p:spPr>
      </p:sp>
      <p:sp>
        <p:nvSpPr>
          <p:cNvPr id="24" name="Text 22"/>
          <p:cNvSpPr/>
          <p:nvPr/>
        </p:nvSpPr>
        <p:spPr>
          <a:xfrm>
            <a:off x="7543800" y="269748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Promote GW</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artefacts to DEV</a:t>
            </a:r>
            <a:endParaRPr lang="en-US" sz="850" dirty="0"/>
          </a:p>
        </p:txBody>
      </p:sp>
      <p:sp>
        <p:nvSpPr>
          <p:cNvPr id="25" name="Shape 23"/>
          <p:cNvSpPr/>
          <p:nvPr/>
        </p:nvSpPr>
        <p:spPr>
          <a:xfrm>
            <a:off x="1828800" y="4297680"/>
            <a:ext cx="1508760" cy="868680"/>
          </a:xfrm>
          <a:prstGeom prst="rect">
            <a:avLst/>
          </a:prstGeom>
          <a:solidFill>
            <a:srgbClr val="0D1B2A"/>
          </a:solidFill>
          <a:ln/>
          <a:effectLst>
            <a:outerShdw sx="100000" sy="100000" kx="0" ky="0" algn="bl" rotWithShape="0" blurRad="50800" dist="25400" dir="8100000">
              <a:srgbClr val="000000">
                <a:alpha val="15000"/>
              </a:srgbClr>
            </a:outerShdw>
          </a:effectLst>
        </p:spPr>
      </p:sp>
      <p:sp>
        <p:nvSpPr>
          <p:cNvPr id="26" name="Text 24"/>
          <p:cNvSpPr/>
          <p:nvPr/>
        </p:nvSpPr>
        <p:spPr>
          <a:xfrm>
            <a:off x="1874520" y="4343400"/>
            <a:ext cx="1417320" cy="77724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Reviewed Acquisition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App DB</a:t>
            </a:r>
            <a:endParaRPr lang="en-US" sz="850" dirty="0"/>
          </a:p>
        </p:txBody>
      </p:sp>
      <p:sp>
        <p:nvSpPr>
          <p:cNvPr id="27" name="Shape 25"/>
          <p:cNvSpPr/>
          <p:nvPr/>
        </p:nvSpPr>
        <p:spPr>
          <a:xfrm>
            <a:off x="5212080" y="731520"/>
            <a:ext cx="640080" cy="384048"/>
          </a:xfrm>
          <a:prstGeom prst="rect">
            <a:avLst/>
          </a:prstGeom>
          <a:solidFill>
            <a:srgbClr val="1A2E45"/>
          </a:solidFill>
          <a:ln/>
        </p:spPr>
      </p:sp>
      <p:sp>
        <p:nvSpPr>
          <p:cNvPr id="28" name="Text 26"/>
          <p:cNvSpPr/>
          <p:nvPr/>
        </p:nvSpPr>
        <p:spPr>
          <a:xfrm>
            <a:off x="5212080" y="731520"/>
            <a:ext cx="640080" cy="384048"/>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Curation task</a:t>
            </a:r>
            <a:endParaRPr lang="en-US" sz="700" dirty="0"/>
          </a:p>
        </p:txBody>
      </p:sp>
      <p:sp>
        <p:nvSpPr>
          <p:cNvPr id="29" name="Shape 27"/>
          <p:cNvSpPr/>
          <p:nvPr/>
        </p:nvSpPr>
        <p:spPr>
          <a:xfrm>
            <a:off x="5212080" y="1188720"/>
            <a:ext cx="640080" cy="384048"/>
          </a:xfrm>
          <a:prstGeom prst="rect">
            <a:avLst/>
          </a:prstGeom>
          <a:solidFill>
            <a:srgbClr val="1A2E45"/>
          </a:solidFill>
          <a:ln/>
        </p:spPr>
      </p:sp>
      <p:sp>
        <p:nvSpPr>
          <p:cNvPr id="30" name="Text 28"/>
          <p:cNvSpPr/>
          <p:nvPr/>
        </p:nvSpPr>
        <p:spPr>
          <a:xfrm>
            <a:off x="5212080" y="1188720"/>
            <a:ext cx="640080" cy="384048"/>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Tokenization task</a:t>
            </a:r>
            <a:endParaRPr lang="en-US" sz="700" dirty="0"/>
          </a:p>
        </p:txBody>
      </p:sp>
      <p:sp>
        <p:nvSpPr>
          <p:cNvPr id="31" name="Shape 29"/>
          <p:cNvSpPr/>
          <p:nvPr/>
        </p:nvSpPr>
        <p:spPr>
          <a:xfrm>
            <a:off x="5212080" y="1645920"/>
            <a:ext cx="640080" cy="384048"/>
          </a:xfrm>
          <a:prstGeom prst="rect">
            <a:avLst/>
          </a:prstGeom>
          <a:solidFill>
            <a:srgbClr val="1A2E45"/>
          </a:solidFill>
          <a:ln/>
        </p:spPr>
      </p:sp>
      <p:sp>
        <p:nvSpPr>
          <p:cNvPr id="32" name="Text 30"/>
          <p:cNvSpPr/>
          <p:nvPr/>
        </p:nvSpPr>
        <p:spPr>
          <a:xfrm>
            <a:off x="5212080" y="1645920"/>
            <a:ext cx="640080" cy="384048"/>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Dataset Creation via DRS</a:t>
            </a:r>
            <a:endParaRPr lang="en-US" sz="700" dirty="0"/>
          </a:p>
        </p:txBody>
      </p:sp>
      <p:sp>
        <p:nvSpPr>
          <p:cNvPr id="33" name="Text 31"/>
          <p:cNvSpPr/>
          <p:nvPr/>
        </p:nvSpPr>
        <p:spPr>
          <a:xfrm>
            <a:off x="274320" y="3931920"/>
            <a:ext cx="2011680" cy="228600"/>
          </a:xfrm>
          <a:prstGeom prst="rect">
            <a:avLst/>
          </a:prstGeom>
          <a:noFill/>
          <a:ln/>
        </p:spPr>
        <p:txBody>
          <a:bodyPr wrap="square" lIns="0" tIns="0" rIns="0" bIns="0" rtlCol="0" anchor="ctr"/>
          <a:lstStyle/>
          <a:p>
            <a:pPr indent="0" marL="0">
              <a:buNone/>
            </a:pPr>
            <a:r>
              <a:rPr lang="en-US" sz="800" i="1" dirty="0">
                <a:solidFill>
                  <a:srgbClr val="8EABC0"/>
                </a:solidFill>
                <a:latin typeface="Calibri" pitchFamily="34" charset="0"/>
                <a:ea typeface="Calibri" pitchFamily="34" charset="-122"/>
                <a:cs typeface="Calibri" pitchFamily="34" charset="-120"/>
              </a:rPr>
              <a:t>DEV — Developer owned</a:t>
            </a:r>
            <a:endParaRPr lang="en-US" sz="800" dirty="0"/>
          </a:p>
        </p:txBody>
      </p:sp>
      <p:sp>
        <p:nvSpPr>
          <p:cNvPr id="34" name="Text 32"/>
          <p:cNvSpPr/>
          <p:nvPr/>
        </p:nvSpPr>
        <p:spPr>
          <a:xfrm>
            <a:off x="2286000" y="3931920"/>
            <a:ext cx="2011680" cy="228600"/>
          </a:xfrm>
          <a:prstGeom prst="rect">
            <a:avLst/>
          </a:prstGeom>
          <a:noFill/>
          <a:ln/>
        </p:spPr>
        <p:txBody>
          <a:bodyPr wrap="square" lIns="0" tIns="0" rIns="0" bIns="0" rtlCol="0" anchor="ctr"/>
          <a:lstStyle/>
          <a:p>
            <a:pPr indent="0" marL="0">
              <a:buNone/>
            </a:pPr>
            <a:r>
              <a:rPr lang="en-US" sz="800" i="1" dirty="0">
                <a:solidFill>
                  <a:srgbClr val="8EABC0"/>
                </a:solidFill>
                <a:latin typeface="Calibri" pitchFamily="34" charset="0"/>
                <a:ea typeface="Calibri" pitchFamily="34" charset="-122"/>
                <a:cs typeface="Calibri" pitchFamily="34" charset="-120"/>
              </a:rPr>
              <a:t>PROD — Production workflow</a:t>
            </a:r>
            <a:endParaRPr lang="en-US" sz="800" dirty="0"/>
          </a:p>
        </p:txBody>
      </p:sp>
      <p:sp>
        <p:nvSpPr>
          <p:cNvPr id="35" name="Text 33"/>
          <p:cNvSpPr/>
          <p:nvPr/>
        </p:nvSpPr>
        <p:spPr>
          <a:xfrm>
            <a:off x="3474720" y="3931920"/>
            <a:ext cx="2011680" cy="228600"/>
          </a:xfrm>
          <a:prstGeom prst="rect">
            <a:avLst/>
          </a:prstGeom>
          <a:noFill/>
          <a:ln/>
        </p:spPr>
        <p:txBody>
          <a:bodyPr wrap="square" lIns="0" tIns="0" rIns="0" bIns="0" rtlCol="0" anchor="ctr"/>
          <a:lstStyle/>
          <a:p>
            <a:pPr indent="0" marL="0">
              <a:buNone/>
            </a:pPr>
            <a:r>
              <a:rPr lang="en-US" sz="800" i="1" dirty="0">
                <a:solidFill>
                  <a:srgbClr val="8EABC0"/>
                </a:solidFill>
                <a:latin typeface="Calibri" pitchFamily="34" charset="0"/>
                <a:ea typeface="Calibri" pitchFamily="34" charset="-122"/>
                <a:cs typeface="Calibri" pitchFamily="34" charset="-120"/>
              </a:rPr>
              <a:t>PK: Feed ID + File Name (Signed-off/Approved)</a:t>
            </a:r>
            <a:endParaRPr lang="en-US" sz="800" dirty="0"/>
          </a:p>
        </p:txBody>
      </p:sp>
      <p:sp>
        <p:nvSpPr>
          <p:cNvPr id="36" name="Shape 34"/>
          <p:cNvSpPr/>
          <p:nvPr/>
        </p:nvSpPr>
        <p:spPr>
          <a:xfrm>
            <a:off x="274320" y="4251960"/>
            <a:ext cx="1280160" cy="320040"/>
          </a:xfrm>
          <a:prstGeom prst="rect">
            <a:avLst/>
          </a:prstGeom>
          <a:solidFill>
            <a:srgbClr val="1A2E45"/>
          </a:solidFill>
          <a:ln/>
        </p:spPr>
      </p:sp>
      <p:sp>
        <p:nvSpPr>
          <p:cNvPr id="37" name="Text 35"/>
          <p:cNvSpPr/>
          <p:nvPr/>
        </p:nvSpPr>
        <p:spPr>
          <a:xfrm>
            <a:off x="274320" y="4251960"/>
            <a:ext cx="1280160" cy="320040"/>
          </a:xfrm>
          <a:prstGeom prst="rect">
            <a:avLst/>
          </a:prstGeom>
          <a:noFill/>
          <a:ln/>
        </p:spPr>
        <p:txBody>
          <a:bodyPr wrap="square" lIns="0" tIns="0" rIns="0" bIns="0" rtlCol="0" anchor="ctr"/>
          <a:lstStyle/>
          <a:p>
            <a:pPr algn="ctr" indent="0" marL="0">
              <a:buNone/>
            </a:pPr>
            <a:r>
              <a:rPr lang="en-US" sz="800" dirty="0">
                <a:solidFill>
                  <a:srgbClr val="94D2BD"/>
                </a:solidFill>
                <a:latin typeface="Calibri" pitchFamily="34" charset="0"/>
                <a:ea typeface="Calibri" pitchFamily="34" charset="-122"/>
                <a:cs typeface="Calibri" pitchFamily="34" charset="-120"/>
              </a:rPr>
              <a:t>☁ kafka  |  ❄ UBS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05  |  30-Step Flow — User &amp; UI Layer</a:t>
            </a:r>
            <a:endParaRPr lang="en-US" sz="2000" dirty="0"/>
          </a:p>
        </p:txBody>
      </p:sp>
      <p:sp>
        <p:nvSpPr>
          <p:cNvPr id="5" name="Shape 3"/>
          <p:cNvSpPr/>
          <p:nvPr/>
        </p:nvSpPr>
        <p:spPr>
          <a:xfrm>
            <a:off x="320040" y="640080"/>
            <a:ext cx="4114800" cy="41148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20040" y="640080"/>
            <a:ext cx="4114800" cy="365760"/>
          </a:xfrm>
          <a:prstGeom prst="rect">
            <a:avLst/>
          </a:prstGeom>
          <a:solidFill>
            <a:srgbClr val="0A9396"/>
          </a:solidFill>
          <a:ln/>
        </p:spPr>
      </p:sp>
      <p:sp>
        <p:nvSpPr>
          <p:cNvPr id="7" name="Text 5"/>
          <p:cNvSpPr/>
          <p:nvPr/>
        </p:nvSpPr>
        <p:spPr>
          <a:xfrm>
            <a:off x="411480" y="658368"/>
            <a:ext cx="393192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User &amp; UI Layer</a:t>
            </a:r>
            <a:endParaRPr lang="en-US" sz="1300" dirty="0"/>
          </a:p>
        </p:txBody>
      </p:sp>
      <p:sp>
        <p:nvSpPr>
          <p:cNvPr id="8" name="Text 6"/>
          <p:cNvSpPr/>
          <p:nvPr/>
        </p:nvSpPr>
        <p:spPr>
          <a:xfrm>
            <a:off x="457200" y="1078992"/>
            <a:ext cx="3840480" cy="3566160"/>
          </a:xfrm>
          <a:prstGeom prst="rect">
            <a:avLst/>
          </a:prstGeom>
          <a:noFill/>
          <a:ln/>
        </p:spPr>
        <p:txBody>
          <a:bodyPr wrap="square" rtlCol="0" anchor="ctr"/>
          <a:lstStyle/>
          <a:p>
            <a:pPr indent="0" marL="0">
              <a:spcAft>
                <a:spcPts val="800"/>
              </a:spcAft>
              <a:buNone/>
            </a:pPr>
            <a:r>
              <a:rPr lang="en-US" sz="1150" dirty="0">
                <a:solidFill>
                  <a:srgbClr val="2C3E50"/>
                </a:solidFill>
                <a:latin typeface="Calibri" pitchFamily="34" charset="0"/>
                <a:ea typeface="Calibri" pitchFamily="34" charset="-122"/>
                <a:cs typeface="Calibri" pitchFamily="34" charset="-120"/>
              </a:rPr>
              <a:t>1.  User accesses the ampliFi UI for feed onboarding</a:t>
            </a:r>
            <a:endParaRPr lang="en-US" sz="1150" dirty="0"/>
          </a:p>
          <a:p>
            <a:pPr indent="0" marL="0">
              <a:spcAft>
                <a:spcPts val="800"/>
              </a:spcAft>
              <a:buNone/>
            </a:pPr>
            <a:r>
              <a:rPr lang="en-US" sz="1150" dirty="0">
                <a:solidFill>
                  <a:srgbClr val="2C3E50"/>
                </a:solidFill>
                <a:latin typeface="Calibri" pitchFamily="34" charset="0"/>
                <a:ea typeface="Calibri" pitchFamily="34" charset="-122"/>
                <a:cs typeface="Calibri" pitchFamily="34" charset="-120"/>
              </a:rPr>
              <a:t>2.  User initiates a new acquisition request</a:t>
            </a:r>
            <a:endParaRPr lang="en-US" sz="1150" dirty="0"/>
          </a:p>
          <a:p>
            <a:pPr indent="0" marL="0">
              <a:spcAft>
                <a:spcPts val="800"/>
              </a:spcAft>
              <a:buNone/>
            </a:pPr>
            <a:r>
              <a:rPr lang="en-US" sz="1150" dirty="0">
                <a:solidFill>
                  <a:srgbClr val="2C3E50"/>
                </a:solidFill>
                <a:latin typeface="Calibri" pitchFamily="34" charset="0"/>
                <a:ea typeface="Calibri" pitchFamily="34" charset="-122"/>
                <a:cs typeface="Calibri" pitchFamily="34" charset="-120"/>
              </a:rPr>
              <a:t>3.  User provides feed details (source, type, format)</a:t>
            </a:r>
            <a:endParaRPr lang="en-US" sz="1150" dirty="0"/>
          </a:p>
          <a:p>
            <a:pPr indent="0" marL="0">
              <a:spcAft>
                <a:spcPts val="800"/>
              </a:spcAft>
              <a:buNone/>
            </a:pPr>
            <a:r>
              <a:rPr lang="en-US" sz="1150" dirty="0">
                <a:solidFill>
                  <a:srgbClr val="2C3E50"/>
                </a:solidFill>
                <a:latin typeface="Calibri" pitchFamily="34" charset="0"/>
                <a:ea typeface="Calibri" pitchFamily="34" charset="-122"/>
                <a:cs typeface="Calibri" pitchFamily="34" charset="-120"/>
              </a:rPr>
              <a:t>4.  User defines dataset specifications (schema, structure)</a:t>
            </a:r>
            <a:endParaRPr lang="en-US" sz="1150" dirty="0"/>
          </a:p>
          <a:p>
            <a:pPr indent="0" marL="0">
              <a:spcAft>
                <a:spcPts val="800"/>
              </a:spcAft>
              <a:buNone/>
            </a:pPr>
            <a:r>
              <a:rPr lang="en-US" sz="1150" dirty="0">
                <a:solidFill>
                  <a:srgbClr val="2C3E50"/>
                </a:solidFill>
                <a:latin typeface="Calibri" pitchFamily="34" charset="0"/>
                <a:ea typeface="Calibri" pitchFamily="34" charset="-122"/>
                <a:cs typeface="Calibri" pitchFamily="34" charset="-120"/>
              </a:rPr>
              <a:t>5.  User uploads data via template or manual entry (UI-based input option)</a:t>
            </a:r>
            <a:endParaRPr lang="en-US" sz="1150" dirty="0"/>
          </a:p>
        </p:txBody>
      </p:sp>
      <p:sp>
        <p:nvSpPr>
          <p:cNvPr id="9" name="Shape 7"/>
          <p:cNvSpPr/>
          <p:nvPr/>
        </p:nvSpPr>
        <p:spPr>
          <a:xfrm>
            <a:off x="4754880" y="640080"/>
            <a:ext cx="4069080" cy="1920240"/>
          </a:xfrm>
          <a:prstGeom prst="rect">
            <a:avLst/>
          </a:prstGeom>
          <a:solidFill>
            <a:srgbClr val="1A2E45"/>
          </a:solidFill>
          <a:ln/>
          <a:effectLst>
            <a:outerShdw sx="100000" sy="100000" kx="0" ky="0" algn="bl" rotWithShape="0" blurRad="63500" dist="25400" dir="8100000">
              <a:srgbClr val="000000">
                <a:alpha val="15000"/>
              </a:srgbClr>
            </a:outerShdw>
          </a:effectLst>
        </p:spPr>
      </p:sp>
      <p:sp>
        <p:nvSpPr>
          <p:cNvPr id="10" name="Shape 8"/>
          <p:cNvSpPr/>
          <p:nvPr/>
        </p:nvSpPr>
        <p:spPr>
          <a:xfrm>
            <a:off x="4754880" y="640080"/>
            <a:ext cx="4069080" cy="36576"/>
          </a:xfrm>
          <a:prstGeom prst="rect">
            <a:avLst/>
          </a:prstGeom>
          <a:solidFill>
            <a:srgbClr val="E9C46A"/>
          </a:solidFill>
          <a:ln/>
        </p:spPr>
      </p:sp>
      <p:sp>
        <p:nvSpPr>
          <p:cNvPr id="11" name="Text 9"/>
          <p:cNvSpPr/>
          <p:nvPr/>
        </p:nvSpPr>
        <p:spPr>
          <a:xfrm>
            <a:off x="4892040" y="713232"/>
            <a:ext cx="3794760" cy="274320"/>
          </a:xfrm>
          <a:prstGeom prst="rect">
            <a:avLst/>
          </a:prstGeom>
          <a:noFill/>
          <a:ln/>
        </p:spPr>
        <p:txBody>
          <a:bodyPr wrap="square" lIns="0" tIns="0" rIns="0" bIns="0" rtlCol="0" anchor="ctr"/>
          <a:lstStyle/>
          <a:p>
            <a:pPr indent="0" marL="0">
              <a:buNone/>
            </a:pPr>
            <a:r>
              <a:rPr lang="en-US" sz="1100" b="1" dirty="0">
                <a:solidFill>
                  <a:srgbClr val="E9C46A"/>
                </a:solidFill>
                <a:latin typeface="Calibri" pitchFamily="34" charset="0"/>
                <a:ea typeface="Calibri" pitchFamily="34" charset="-122"/>
                <a:cs typeface="Calibri" pitchFamily="34" charset="-120"/>
              </a:rPr>
              <a:t>📋  Recommended Acquisition App Template</a:t>
            </a:r>
            <a:endParaRPr lang="en-US" sz="1100" dirty="0"/>
          </a:p>
        </p:txBody>
      </p:sp>
      <p:sp>
        <p:nvSpPr>
          <p:cNvPr id="12" name="Text 10"/>
          <p:cNvSpPr/>
          <p:nvPr/>
        </p:nvSpPr>
        <p:spPr>
          <a:xfrm>
            <a:off x="4892040" y="1024128"/>
            <a:ext cx="3794760" cy="1371600"/>
          </a:xfrm>
          <a:prstGeom prst="rect">
            <a:avLst/>
          </a:prstGeom>
          <a:noFill/>
          <a:ln/>
        </p:spPr>
        <p:txBody>
          <a:bodyPr wrap="square" lIns="0" tIns="0" rIns="0" bIns="0" rtlCol="0" anchor="ctr"/>
          <a:lstStyle/>
          <a:p>
            <a:pPr indent="0" marL="0">
              <a:buNone/>
            </a:pPr>
            <a:r>
              <a:rPr lang="en-US" sz="1050" dirty="0">
                <a:solidFill>
                  <a:srgbClr val="94D2BD"/>
                </a:solidFill>
                <a:latin typeface="Calibri" pitchFamily="34" charset="0"/>
                <a:ea typeface="Calibri" pitchFamily="34" charset="-122"/>
                <a:cs typeface="Calibri" pitchFamily="34" charset="-120"/>
              </a:rPr>
              <a:t>The Acquisition App UI should receive data in the standard format defined by the Recommended Acquisition App Template. Sourcing Language (SL) skills map and send feed metadata in this standard format to ensure consistency.</a:t>
            </a:r>
            <a:endParaRPr lang="en-US" sz="1050" dirty="0"/>
          </a:p>
        </p:txBody>
      </p:sp>
      <p:sp>
        <p:nvSpPr>
          <p:cNvPr id="13" name="Shape 11"/>
          <p:cNvSpPr/>
          <p:nvPr/>
        </p:nvSpPr>
        <p:spPr>
          <a:xfrm>
            <a:off x="4754880" y="2651760"/>
            <a:ext cx="4069080" cy="21031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4" name="Shape 12"/>
          <p:cNvSpPr/>
          <p:nvPr/>
        </p:nvSpPr>
        <p:spPr>
          <a:xfrm>
            <a:off x="4754880" y="2651760"/>
            <a:ext cx="4069080" cy="36576"/>
          </a:xfrm>
          <a:prstGeom prst="rect">
            <a:avLst/>
          </a:prstGeom>
          <a:solidFill>
            <a:srgbClr val="0A9396"/>
          </a:solidFill>
          <a:ln/>
        </p:spPr>
      </p:sp>
      <p:sp>
        <p:nvSpPr>
          <p:cNvPr id="15" name="Text 13"/>
          <p:cNvSpPr/>
          <p:nvPr/>
        </p:nvSpPr>
        <p:spPr>
          <a:xfrm>
            <a:off x="4892040" y="2724912"/>
            <a:ext cx="3794760" cy="25603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Feed Input Types</a:t>
            </a:r>
            <a:endParaRPr lang="en-US" sz="1200" dirty="0"/>
          </a:p>
        </p:txBody>
      </p:sp>
      <p:sp>
        <p:nvSpPr>
          <p:cNvPr id="16" name="Text 14"/>
          <p:cNvSpPr/>
          <p:nvPr/>
        </p:nvSpPr>
        <p:spPr>
          <a:xfrm>
            <a:off x="4892040" y="3017520"/>
            <a:ext cx="3794760" cy="1645920"/>
          </a:xfrm>
          <a:prstGeom prst="rect">
            <a:avLst/>
          </a:prstGeom>
          <a:noFill/>
          <a:ln/>
        </p:spPr>
        <p:txBody>
          <a:bodyPr wrap="square" rtlCol="0" anchor="ctr"/>
          <a:lstStyle/>
          <a:p>
            <a:pPr marL="342900" indent="-342900">
              <a:spcAft>
                <a:spcPts val="500"/>
              </a:spcAft>
              <a:buSzPct val="100000"/>
              <a:buChar char="•"/>
            </a:pPr>
            <a:r>
              <a:rPr lang="en-US" sz="1100" dirty="0">
                <a:solidFill>
                  <a:srgbClr val="2C3E50"/>
                </a:solidFill>
                <a:latin typeface="Calibri" pitchFamily="34" charset="0"/>
                <a:ea typeface="Calibri" pitchFamily="34" charset="-122"/>
                <a:cs typeface="Calibri" pitchFamily="34" charset="-120"/>
              </a:rPr>
              <a:t>GEAR / GGL Feeds — standard sourced feeds</a:t>
            </a:r>
            <a:endParaRPr lang="en-US" sz="1100" dirty="0"/>
          </a:p>
          <a:p>
            <a:pPr marL="342900" indent="-342900">
              <a:spcAft>
                <a:spcPts val="500"/>
              </a:spcAft>
              <a:buSzPct val="100000"/>
              <a:buChar char="•"/>
            </a:pPr>
            <a:r>
              <a:rPr lang="en-US" sz="1100" dirty="0">
                <a:solidFill>
                  <a:srgbClr val="2C3E50"/>
                </a:solidFill>
                <a:latin typeface="Calibri" pitchFamily="34" charset="0"/>
                <a:ea typeface="Calibri" pitchFamily="34" charset="-122"/>
                <a:cs typeface="Calibri" pitchFamily="34" charset="-120"/>
              </a:rPr>
              <a:t>Brand New Feeds — non-ASD feeds</a:t>
            </a:r>
            <a:endParaRPr lang="en-US" sz="1100" dirty="0"/>
          </a:p>
          <a:p>
            <a:pPr marL="342900" indent="-342900">
              <a:spcAft>
                <a:spcPts val="500"/>
              </a:spcAft>
              <a:buSzPct val="100000"/>
              <a:buChar char="•"/>
            </a:pPr>
            <a:r>
              <a:rPr lang="en-US" sz="1100" dirty="0">
                <a:solidFill>
                  <a:srgbClr val="2C3E50"/>
                </a:solidFill>
                <a:latin typeface="Calibri" pitchFamily="34" charset="0"/>
                <a:ea typeface="Calibri" pitchFamily="34" charset="-122"/>
                <a:cs typeface="Calibri" pitchFamily="34" charset="-120"/>
              </a:rPr>
              <a:t>Both types flow through Sourcing Skills (acquisition-spec)</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06  |  Metadata Capture &amp; Storage</a:t>
            </a:r>
            <a:endParaRPr lang="en-US" sz="2000" dirty="0"/>
          </a:p>
        </p:txBody>
      </p:sp>
      <p:sp>
        <p:nvSpPr>
          <p:cNvPr id="5" name="Shape 3"/>
          <p:cNvSpPr/>
          <p:nvPr/>
        </p:nvSpPr>
        <p:spPr>
          <a:xfrm>
            <a:off x="320040" y="68580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20040" y="685800"/>
            <a:ext cx="2743200" cy="320040"/>
          </a:xfrm>
          <a:prstGeom prst="rect">
            <a:avLst/>
          </a:prstGeom>
          <a:solidFill>
            <a:srgbClr val="0A9396"/>
          </a:solidFill>
          <a:ln/>
        </p:spPr>
      </p:sp>
      <p:sp>
        <p:nvSpPr>
          <p:cNvPr id="7" name="Text 5"/>
          <p:cNvSpPr/>
          <p:nvPr/>
        </p:nvSpPr>
        <p:spPr>
          <a:xfrm>
            <a:off x="429768" y="722376"/>
            <a:ext cx="731520"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Step 01</a:t>
            </a:r>
            <a:endParaRPr lang="en-US" sz="1000" dirty="0"/>
          </a:p>
        </p:txBody>
      </p:sp>
      <p:sp>
        <p:nvSpPr>
          <p:cNvPr id="8" name="Text 6"/>
          <p:cNvSpPr/>
          <p:nvPr/>
        </p:nvSpPr>
        <p:spPr>
          <a:xfrm>
            <a:off x="429768" y="1069848"/>
            <a:ext cx="25146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Feed Passport Created</a:t>
            </a:r>
            <a:endParaRPr lang="en-US" sz="1200" dirty="0"/>
          </a:p>
        </p:txBody>
      </p:sp>
      <p:sp>
        <p:nvSpPr>
          <p:cNvPr id="9" name="Text 7"/>
          <p:cNvSpPr/>
          <p:nvPr/>
        </p:nvSpPr>
        <p:spPr>
          <a:xfrm>
            <a:off x="429768" y="1371600"/>
            <a:ext cx="2514600" cy="10972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System automatically creates Feed Passport metadata as the primary identifier.</a:t>
            </a:r>
            <a:endParaRPr lang="en-US" sz="1050" dirty="0"/>
          </a:p>
        </p:txBody>
      </p:sp>
      <p:sp>
        <p:nvSpPr>
          <p:cNvPr id="10" name="Shape 8"/>
          <p:cNvSpPr/>
          <p:nvPr/>
        </p:nvSpPr>
        <p:spPr>
          <a:xfrm>
            <a:off x="3172968" y="68580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1" name="Shape 9"/>
          <p:cNvSpPr/>
          <p:nvPr/>
        </p:nvSpPr>
        <p:spPr>
          <a:xfrm>
            <a:off x="3172968" y="685800"/>
            <a:ext cx="2743200" cy="320040"/>
          </a:xfrm>
          <a:prstGeom prst="rect">
            <a:avLst/>
          </a:prstGeom>
          <a:solidFill>
            <a:srgbClr val="0A9396"/>
          </a:solidFill>
          <a:ln/>
        </p:spPr>
      </p:sp>
      <p:sp>
        <p:nvSpPr>
          <p:cNvPr id="12" name="Text 10"/>
          <p:cNvSpPr/>
          <p:nvPr/>
        </p:nvSpPr>
        <p:spPr>
          <a:xfrm>
            <a:off x="3282696" y="722376"/>
            <a:ext cx="731520"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Step 02</a:t>
            </a:r>
            <a:endParaRPr lang="en-US" sz="1000" dirty="0"/>
          </a:p>
        </p:txBody>
      </p:sp>
      <p:sp>
        <p:nvSpPr>
          <p:cNvPr id="13" name="Text 11"/>
          <p:cNvSpPr/>
          <p:nvPr/>
        </p:nvSpPr>
        <p:spPr>
          <a:xfrm>
            <a:off x="3282696" y="1069848"/>
            <a:ext cx="25146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Dataset Metadata Generated</a:t>
            </a:r>
            <a:endParaRPr lang="en-US" sz="1200" dirty="0"/>
          </a:p>
        </p:txBody>
      </p:sp>
      <p:sp>
        <p:nvSpPr>
          <p:cNvPr id="14" name="Text 12"/>
          <p:cNvSpPr/>
          <p:nvPr/>
        </p:nvSpPr>
        <p:spPr>
          <a:xfrm>
            <a:off x="3282696" y="1371600"/>
            <a:ext cx="2514600" cy="10972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System generates Dataset Metadata (Acquisition Specs) from user inputs.</a:t>
            </a:r>
            <a:endParaRPr lang="en-US" sz="1050" dirty="0"/>
          </a:p>
        </p:txBody>
      </p:sp>
      <p:sp>
        <p:nvSpPr>
          <p:cNvPr id="15" name="Shape 13"/>
          <p:cNvSpPr/>
          <p:nvPr/>
        </p:nvSpPr>
        <p:spPr>
          <a:xfrm>
            <a:off x="6025896" y="68580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6" name="Shape 14"/>
          <p:cNvSpPr/>
          <p:nvPr/>
        </p:nvSpPr>
        <p:spPr>
          <a:xfrm>
            <a:off x="6025896" y="685800"/>
            <a:ext cx="2743200" cy="320040"/>
          </a:xfrm>
          <a:prstGeom prst="rect">
            <a:avLst/>
          </a:prstGeom>
          <a:solidFill>
            <a:srgbClr val="0A9396"/>
          </a:solidFill>
          <a:ln/>
        </p:spPr>
      </p:sp>
      <p:sp>
        <p:nvSpPr>
          <p:cNvPr id="17" name="Text 15"/>
          <p:cNvSpPr/>
          <p:nvPr/>
        </p:nvSpPr>
        <p:spPr>
          <a:xfrm>
            <a:off x="6135624" y="722376"/>
            <a:ext cx="731520"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Step 03</a:t>
            </a:r>
            <a:endParaRPr lang="en-US" sz="1000" dirty="0"/>
          </a:p>
        </p:txBody>
      </p:sp>
      <p:sp>
        <p:nvSpPr>
          <p:cNvPr id="18" name="Text 16"/>
          <p:cNvSpPr/>
          <p:nvPr/>
        </p:nvSpPr>
        <p:spPr>
          <a:xfrm>
            <a:off x="6135624" y="1069848"/>
            <a:ext cx="25146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Backend APIs Capture Input</a:t>
            </a:r>
            <a:endParaRPr lang="en-US" sz="1200" dirty="0"/>
          </a:p>
        </p:txBody>
      </p:sp>
      <p:sp>
        <p:nvSpPr>
          <p:cNvPr id="19" name="Text 17"/>
          <p:cNvSpPr/>
          <p:nvPr/>
        </p:nvSpPr>
        <p:spPr>
          <a:xfrm>
            <a:off x="6135624" y="1371600"/>
            <a:ext cx="2514600" cy="10972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Backend APIs receive and capture all data submitted via the UI layer.</a:t>
            </a:r>
            <a:endParaRPr lang="en-US" sz="1050" dirty="0"/>
          </a:p>
        </p:txBody>
      </p:sp>
      <p:sp>
        <p:nvSpPr>
          <p:cNvPr id="20" name="Shape 18"/>
          <p:cNvSpPr/>
          <p:nvPr/>
        </p:nvSpPr>
        <p:spPr>
          <a:xfrm>
            <a:off x="320040" y="269748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1" name="Shape 19"/>
          <p:cNvSpPr/>
          <p:nvPr/>
        </p:nvSpPr>
        <p:spPr>
          <a:xfrm>
            <a:off x="320040" y="2697480"/>
            <a:ext cx="2743200" cy="320040"/>
          </a:xfrm>
          <a:prstGeom prst="rect">
            <a:avLst/>
          </a:prstGeom>
          <a:solidFill>
            <a:srgbClr val="0D1B2A"/>
          </a:solidFill>
          <a:ln/>
        </p:spPr>
      </p:sp>
      <p:sp>
        <p:nvSpPr>
          <p:cNvPr id="22" name="Text 20"/>
          <p:cNvSpPr/>
          <p:nvPr/>
        </p:nvSpPr>
        <p:spPr>
          <a:xfrm>
            <a:off x="429768" y="2734056"/>
            <a:ext cx="731520"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Step 04</a:t>
            </a:r>
            <a:endParaRPr lang="en-US" sz="1000" dirty="0"/>
          </a:p>
        </p:txBody>
      </p:sp>
      <p:sp>
        <p:nvSpPr>
          <p:cNvPr id="23" name="Text 21"/>
          <p:cNvSpPr/>
          <p:nvPr/>
        </p:nvSpPr>
        <p:spPr>
          <a:xfrm>
            <a:off x="429768" y="3081528"/>
            <a:ext cx="25146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UI/API Validation</a:t>
            </a:r>
            <a:endParaRPr lang="en-US" sz="1200" dirty="0"/>
          </a:p>
        </p:txBody>
      </p:sp>
      <p:sp>
        <p:nvSpPr>
          <p:cNvPr id="24" name="Text 22"/>
          <p:cNvSpPr/>
          <p:nvPr/>
        </p:nvSpPr>
        <p:spPr>
          <a:xfrm>
            <a:off x="429768" y="3383280"/>
            <a:ext cx="2514600" cy="10972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Data is validated at the UI/API layer for completeness and schema correctness.</a:t>
            </a:r>
            <a:endParaRPr lang="en-US" sz="1050" dirty="0"/>
          </a:p>
        </p:txBody>
      </p:sp>
      <p:sp>
        <p:nvSpPr>
          <p:cNvPr id="25" name="Shape 23"/>
          <p:cNvSpPr/>
          <p:nvPr/>
        </p:nvSpPr>
        <p:spPr>
          <a:xfrm>
            <a:off x="3172968" y="269748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6" name="Shape 24"/>
          <p:cNvSpPr/>
          <p:nvPr/>
        </p:nvSpPr>
        <p:spPr>
          <a:xfrm>
            <a:off x="3172968" y="2697480"/>
            <a:ext cx="2743200" cy="320040"/>
          </a:xfrm>
          <a:prstGeom prst="rect">
            <a:avLst/>
          </a:prstGeom>
          <a:solidFill>
            <a:srgbClr val="0D1B2A"/>
          </a:solidFill>
          <a:ln/>
        </p:spPr>
      </p:sp>
      <p:sp>
        <p:nvSpPr>
          <p:cNvPr id="27" name="Text 25"/>
          <p:cNvSpPr/>
          <p:nvPr/>
        </p:nvSpPr>
        <p:spPr>
          <a:xfrm>
            <a:off x="3282696" y="2734056"/>
            <a:ext cx="731520"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Step 05</a:t>
            </a:r>
            <a:endParaRPr lang="en-US" sz="1000" dirty="0"/>
          </a:p>
        </p:txBody>
      </p:sp>
      <p:sp>
        <p:nvSpPr>
          <p:cNvPr id="28" name="Text 26"/>
          <p:cNvSpPr/>
          <p:nvPr/>
        </p:nvSpPr>
        <p:spPr>
          <a:xfrm>
            <a:off x="3282696" y="3081528"/>
            <a:ext cx="25146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Stored in Acquisition App DB</a:t>
            </a:r>
            <a:endParaRPr lang="en-US" sz="1200" dirty="0"/>
          </a:p>
        </p:txBody>
      </p:sp>
      <p:sp>
        <p:nvSpPr>
          <p:cNvPr id="29" name="Text 27"/>
          <p:cNvSpPr/>
          <p:nvPr/>
        </p:nvSpPr>
        <p:spPr>
          <a:xfrm>
            <a:off x="3282696" y="3383280"/>
            <a:ext cx="2514600" cy="10972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Validated metadata is persisted in the central Acquisition App Database.</a:t>
            </a:r>
            <a:endParaRPr lang="en-US" sz="1050" dirty="0"/>
          </a:p>
        </p:txBody>
      </p:sp>
      <p:sp>
        <p:nvSpPr>
          <p:cNvPr id="30" name="Shape 28"/>
          <p:cNvSpPr/>
          <p:nvPr/>
        </p:nvSpPr>
        <p:spPr>
          <a:xfrm>
            <a:off x="6025896" y="2697480"/>
            <a:ext cx="2743200" cy="18745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31" name="Shape 29"/>
          <p:cNvSpPr/>
          <p:nvPr/>
        </p:nvSpPr>
        <p:spPr>
          <a:xfrm>
            <a:off x="6025896" y="2697480"/>
            <a:ext cx="2743200" cy="320040"/>
          </a:xfrm>
          <a:prstGeom prst="rect">
            <a:avLst/>
          </a:prstGeom>
          <a:solidFill>
            <a:srgbClr val="0D1B2A"/>
          </a:solidFill>
          <a:ln/>
        </p:spPr>
      </p:sp>
      <p:sp>
        <p:nvSpPr>
          <p:cNvPr id="32" name="Text 30"/>
          <p:cNvSpPr/>
          <p:nvPr/>
        </p:nvSpPr>
        <p:spPr>
          <a:xfrm>
            <a:off x="6135624" y="2734056"/>
            <a:ext cx="731520"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Step 06</a:t>
            </a:r>
            <a:endParaRPr lang="en-US" sz="1000" dirty="0"/>
          </a:p>
        </p:txBody>
      </p:sp>
      <p:sp>
        <p:nvSpPr>
          <p:cNvPr id="33" name="Text 31"/>
          <p:cNvSpPr/>
          <p:nvPr/>
        </p:nvSpPr>
        <p:spPr>
          <a:xfrm>
            <a:off x="6135624" y="3081528"/>
            <a:ext cx="25146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Central Repository Active</a:t>
            </a:r>
            <a:endParaRPr lang="en-US" sz="1200" dirty="0"/>
          </a:p>
        </p:txBody>
      </p:sp>
      <p:sp>
        <p:nvSpPr>
          <p:cNvPr id="34" name="Text 32"/>
          <p:cNvSpPr/>
          <p:nvPr/>
        </p:nvSpPr>
        <p:spPr>
          <a:xfrm>
            <a:off x="6135624" y="3383280"/>
            <a:ext cx="2514600" cy="10972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Database becomes the central repository and source of truth for all feed metadata.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07  |  Governance &amp; Approval Workflow</a:t>
            </a:r>
            <a:endParaRPr lang="en-US" sz="2000" dirty="0"/>
          </a:p>
        </p:txBody>
      </p:sp>
      <p:sp>
        <p:nvSpPr>
          <p:cNvPr id="5" name="Shape 3"/>
          <p:cNvSpPr/>
          <p:nvPr/>
        </p:nvSpPr>
        <p:spPr>
          <a:xfrm>
            <a:off x="320040" y="640080"/>
            <a:ext cx="8503920" cy="502920"/>
          </a:xfrm>
          <a:prstGeom prst="rect">
            <a:avLst/>
          </a:prstGeom>
          <a:solidFill>
            <a:srgbClr val="0D1B2A"/>
          </a:solidFill>
          <a:ln/>
          <a:effectLst>
            <a:outerShdw sx="100000" sy="100000" kx="0" ky="0" algn="bl" rotWithShape="0" blurRad="50800" dist="25400" dir="8100000">
              <a:srgbClr val="000000">
                <a:alpha val="12000"/>
              </a:srgbClr>
            </a:outerShdw>
          </a:effectLst>
        </p:spPr>
      </p:sp>
      <p:sp>
        <p:nvSpPr>
          <p:cNvPr id="6" name="Text 4"/>
          <p:cNvSpPr/>
          <p:nvPr/>
        </p:nvSpPr>
        <p:spPr>
          <a:xfrm>
            <a:off x="502920" y="685800"/>
            <a:ext cx="8229600" cy="402336"/>
          </a:xfrm>
          <a:prstGeom prst="rect">
            <a:avLst/>
          </a:prstGeom>
          <a:noFill/>
          <a:ln/>
        </p:spPr>
        <p:txBody>
          <a:bodyPr wrap="square" lIns="0" tIns="0" rIns="0" bIns="0" rtlCol="0" anchor="ctr"/>
          <a:lstStyle/>
          <a:p>
            <a:pPr indent="0" marL="0">
              <a:buNone/>
            </a:pPr>
            <a:r>
              <a:rPr lang="en-US" sz="1200" dirty="0">
                <a:solidFill>
                  <a:srgbClr val="94D2BD"/>
                </a:solidFill>
                <a:latin typeface="Calibri" pitchFamily="34" charset="0"/>
                <a:ea typeface="Calibri" pitchFamily="34" charset="-122"/>
                <a:cs typeface="Calibri" pitchFamily="34" charset="-120"/>
              </a:rPr>
              <a:t>Metadata is routed to Product Owner / Tech Lead for formal review and approval</a:t>
            </a:r>
            <a:endParaRPr lang="en-US" sz="1200" dirty="0"/>
          </a:p>
        </p:txBody>
      </p:sp>
      <p:sp>
        <p:nvSpPr>
          <p:cNvPr id="7" name="Shape 5"/>
          <p:cNvSpPr/>
          <p:nvPr/>
        </p:nvSpPr>
        <p:spPr>
          <a:xfrm>
            <a:off x="320040" y="1261872"/>
            <a:ext cx="4069080" cy="34747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8" name="Shape 6"/>
          <p:cNvSpPr/>
          <p:nvPr/>
        </p:nvSpPr>
        <p:spPr>
          <a:xfrm>
            <a:off x="320040" y="1261872"/>
            <a:ext cx="4069080" cy="347472"/>
          </a:xfrm>
          <a:prstGeom prst="rect">
            <a:avLst/>
          </a:prstGeom>
          <a:solidFill>
            <a:srgbClr val="0A9396"/>
          </a:solidFill>
          <a:ln/>
        </p:spPr>
      </p:sp>
      <p:sp>
        <p:nvSpPr>
          <p:cNvPr id="9" name="Text 7"/>
          <p:cNvSpPr/>
          <p:nvPr/>
        </p:nvSpPr>
        <p:spPr>
          <a:xfrm>
            <a:off x="457200" y="1280160"/>
            <a:ext cx="384048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What Reviewers Validate</a:t>
            </a:r>
            <a:endParaRPr lang="en-US" sz="1200" dirty="0"/>
          </a:p>
        </p:txBody>
      </p:sp>
      <p:sp>
        <p:nvSpPr>
          <p:cNvPr id="10" name="Text 8"/>
          <p:cNvSpPr/>
          <p:nvPr/>
        </p:nvSpPr>
        <p:spPr>
          <a:xfrm>
            <a:off x="502920" y="1691640"/>
            <a:ext cx="3749040" cy="2926080"/>
          </a:xfrm>
          <a:prstGeom prst="rect">
            <a:avLst/>
          </a:prstGeom>
          <a:noFill/>
          <a:ln/>
        </p:spPr>
        <p:txBody>
          <a:bodyPr wrap="square" rtlCol="0" anchor="ctr"/>
          <a:lstStyle/>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Schema correctness</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Metadata completeness</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Regulatory compliance</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Feed source authenticity</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Mapping to acquisition-spec template</a:t>
            </a:r>
            <a:endParaRPr lang="en-US" sz="1200" dirty="0"/>
          </a:p>
        </p:txBody>
      </p:sp>
      <p:sp>
        <p:nvSpPr>
          <p:cNvPr id="11" name="Shape 9"/>
          <p:cNvSpPr/>
          <p:nvPr/>
        </p:nvSpPr>
        <p:spPr>
          <a:xfrm>
            <a:off x="4754880" y="1261872"/>
            <a:ext cx="4069080" cy="34747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2" name="Shape 10"/>
          <p:cNvSpPr/>
          <p:nvPr/>
        </p:nvSpPr>
        <p:spPr>
          <a:xfrm>
            <a:off x="4754880" y="1261872"/>
            <a:ext cx="4069080" cy="347472"/>
          </a:xfrm>
          <a:prstGeom prst="rect">
            <a:avLst/>
          </a:prstGeom>
          <a:solidFill>
            <a:srgbClr val="C1121F"/>
          </a:solidFill>
          <a:ln/>
        </p:spPr>
      </p:sp>
      <p:sp>
        <p:nvSpPr>
          <p:cNvPr id="13" name="Text 11"/>
          <p:cNvSpPr/>
          <p:nvPr/>
        </p:nvSpPr>
        <p:spPr>
          <a:xfrm>
            <a:off x="4892040" y="1280160"/>
            <a:ext cx="384048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Process Rules</a:t>
            </a:r>
            <a:endParaRPr lang="en-US" sz="1200" dirty="0"/>
          </a:p>
        </p:txBody>
      </p:sp>
      <p:sp>
        <p:nvSpPr>
          <p:cNvPr id="14" name="Text 12"/>
          <p:cNvSpPr/>
          <p:nvPr/>
        </p:nvSpPr>
        <p:spPr>
          <a:xfrm>
            <a:off x="4892040" y="1691640"/>
            <a:ext cx="3749040" cy="2926080"/>
          </a:xfrm>
          <a:prstGeom prst="rect">
            <a:avLst/>
          </a:prstGeom>
          <a:noFill/>
          <a:ln/>
        </p:spPr>
        <p:txBody>
          <a:bodyPr wrap="square" rtlCol="0" anchor="ctr"/>
          <a:lstStyle/>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Approval / rejection decision is formally recorded</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Only approved metadata progresses further in the pipeline</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Ensures standardized and governed onboarding process</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PO/Leads own the PROD approval gate</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Auto deployment to DEV via Git-CI / UBSDeploy only after approval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08  |  Backend Processing, Orchestration &amp; Automation</a:t>
            </a:r>
            <a:endParaRPr lang="en-US" sz="2000" dirty="0"/>
          </a:p>
        </p:txBody>
      </p:sp>
      <p:sp>
        <p:nvSpPr>
          <p:cNvPr id="5" name="Shape 3"/>
          <p:cNvSpPr/>
          <p:nvPr/>
        </p:nvSpPr>
        <p:spPr>
          <a:xfrm>
            <a:off x="320040" y="640080"/>
            <a:ext cx="4114800" cy="41148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20040" y="640080"/>
            <a:ext cx="4114800" cy="365760"/>
          </a:xfrm>
          <a:prstGeom prst="rect">
            <a:avLst/>
          </a:prstGeom>
          <a:solidFill>
            <a:srgbClr val="0A9396"/>
          </a:solidFill>
          <a:ln/>
        </p:spPr>
      </p:sp>
      <p:sp>
        <p:nvSpPr>
          <p:cNvPr id="7" name="Text 5"/>
          <p:cNvSpPr/>
          <p:nvPr/>
        </p:nvSpPr>
        <p:spPr>
          <a:xfrm>
            <a:off x="457200" y="658368"/>
            <a:ext cx="39319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Backend Processing &amp; Orchestration</a:t>
            </a:r>
            <a:endParaRPr lang="en-US" sz="1200" dirty="0"/>
          </a:p>
        </p:txBody>
      </p:sp>
      <p:sp>
        <p:nvSpPr>
          <p:cNvPr id="8" name="Text 6"/>
          <p:cNvSpPr/>
          <p:nvPr/>
        </p:nvSpPr>
        <p:spPr>
          <a:xfrm>
            <a:off x="502920" y="1078992"/>
            <a:ext cx="3840480" cy="2286000"/>
          </a:xfrm>
          <a:prstGeom prst="rect">
            <a:avLst/>
          </a:prstGeom>
          <a:noFill/>
          <a:ln/>
        </p:spPr>
        <p:txBody>
          <a:bodyPr wrap="square" rtlCol="0" anchor="ctr"/>
          <a:lstStyle/>
          <a:p>
            <a:pPr indent="0" marL="0">
              <a:spcAft>
                <a:spcPts val="1000"/>
              </a:spcAft>
              <a:buNone/>
            </a:pPr>
            <a:r>
              <a:rPr lang="en-US" sz="1200" dirty="0">
                <a:solidFill>
                  <a:srgbClr val="2C3E50"/>
                </a:solidFill>
                <a:latin typeface="Calibri" pitchFamily="34" charset="0"/>
                <a:ea typeface="Calibri" pitchFamily="34" charset="-122"/>
                <a:cs typeface="Calibri" pitchFamily="34" charset="-120"/>
              </a:rPr>
              <a:t>1.  Backend APIs expose metadata to downstream layers</a:t>
            </a:r>
            <a:endParaRPr lang="en-US" sz="1200" dirty="0"/>
          </a:p>
          <a:p>
            <a:pPr indent="0" marL="0">
              <a:spcAft>
                <a:spcPts val="1000"/>
              </a:spcAft>
              <a:buNone/>
            </a:pPr>
            <a:r>
              <a:rPr lang="en-US" sz="1200" dirty="0">
                <a:solidFill>
                  <a:srgbClr val="2C3E50"/>
                </a:solidFill>
                <a:latin typeface="Calibri" pitchFamily="34" charset="0"/>
                <a:ea typeface="Calibri" pitchFamily="34" charset="-122"/>
                <a:cs typeface="Calibri" pitchFamily="34" charset="-120"/>
              </a:rPr>
              <a:t>2.  Skills layer polls or fetches metadata from DB</a:t>
            </a:r>
            <a:endParaRPr lang="en-US" sz="1200" dirty="0"/>
          </a:p>
          <a:p>
            <a:pPr indent="0" marL="0">
              <a:spcAft>
                <a:spcPts val="1000"/>
              </a:spcAft>
              <a:buNone/>
            </a:pPr>
            <a:r>
              <a:rPr lang="en-US" sz="1200" dirty="0">
                <a:solidFill>
                  <a:srgbClr val="2C3E50"/>
                </a:solidFill>
                <a:latin typeface="Calibri" pitchFamily="34" charset="0"/>
                <a:ea typeface="Calibri" pitchFamily="34" charset="-122"/>
                <a:cs typeface="Calibri" pitchFamily="34" charset="-120"/>
              </a:rPr>
              <a:t>3.  Skills interpret metadata and prepare execution plan</a:t>
            </a:r>
            <a:endParaRPr lang="en-US" sz="1200" dirty="0"/>
          </a:p>
          <a:p>
            <a:pPr indent="0" marL="0">
              <a:spcAft>
                <a:spcPts val="1000"/>
              </a:spcAft>
              <a:buNone/>
            </a:pPr>
            <a:r>
              <a:rPr lang="en-US" sz="1200" dirty="0">
                <a:solidFill>
                  <a:srgbClr val="2C3E50"/>
                </a:solidFill>
                <a:latin typeface="Calibri" pitchFamily="34" charset="0"/>
                <a:ea typeface="Calibri" pitchFamily="34" charset="-122"/>
                <a:cs typeface="Calibri" pitchFamily="34" charset="-120"/>
              </a:rPr>
              <a:t>4.  Metadata-driven logic avoids hardcoded pipelines</a:t>
            </a:r>
            <a:endParaRPr lang="en-US" sz="1200" dirty="0"/>
          </a:p>
        </p:txBody>
      </p:sp>
      <p:sp>
        <p:nvSpPr>
          <p:cNvPr id="9" name="Shape 7"/>
          <p:cNvSpPr/>
          <p:nvPr/>
        </p:nvSpPr>
        <p:spPr>
          <a:xfrm>
            <a:off x="502920" y="3474720"/>
            <a:ext cx="3749040" cy="1097280"/>
          </a:xfrm>
          <a:prstGeom prst="rect">
            <a:avLst/>
          </a:prstGeom>
          <a:solidFill>
            <a:srgbClr val="1A2E45"/>
          </a:solidFill>
          <a:ln/>
        </p:spPr>
      </p:sp>
      <p:sp>
        <p:nvSpPr>
          <p:cNvPr id="10" name="Text 8"/>
          <p:cNvSpPr/>
          <p:nvPr/>
        </p:nvSpPr>
        <p:spPr>
          <a:xfrm>
            <a:off x="640080" y="3547872"/>
            <a:ext cx="3520440" cy="950976"/>
          </a:xfrm>
          <a:prstGeom prst="rect">
            <a:avLst/>
          </a:prstGeom>
          <a:noFill/>
          <a:ln/>
        </p:spPr>
        <p:txBody>
          <a:bodyPr wrap="square" lIns="0" tIns="0" rIns="0" bIns="0" rtlCol="0" anchor="ctr"/>
          <a:lstStyle/>
          <a:p>
            <a:pPr indent="0" marL="0">
              <a:buNone/>
            </a:pPr>
            <a:r>
              <a:rPr lang="en-US" sz="1050" i="1" dirty="0">
                <a:solidFill>
                  <a:srgbClr val="94D2BD"/>
                </a:solidFill>
                <a:latin typeface="Calibri" pitchFamily="34" charset="0"/>
                <a:ea typeface="Calibri" pitchFamily="34" charset="-122"/>
                <a:cs typeface="Calibri" pitchFamily="34" charset="-120"/>
              </a:rPr>
              <a:t>Key Principle: Metadata-driven architecture means NO hardcoded pipelines. Every pipeline is dynamically generated from the approved metadata.</a:t>
            </a:r>
            <a:endParaRPr lang="en-US" sz="1050" dirty="0"/>
          </a:p>
        </p:txBody>
      </p:sp>
      <p:sp>
        <p:nvSpPr>
          <p:cNvPr id="11" name="Shape 9"/>
          <p:cNvSpPr/>
          <p:nvPr/>
        </p:nvSpPr>
        <p:spPr>
          <a:xfrm>
            <a:off x="4754880" y="640080"/>
            <a:ext cx="4069080" cy="41148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2" name="Shape 10"/>
          <p:cNvSpPr/>
          <p:nvPr/>
        </p:nvSpPr>
        <p:spPr>
          <a:xfrm>
            <a:off x="4754880" y="640080"/>
            <a:ext cx="4069080" cy="365760"/>
          </a:xfrm>
          <a:prstGeom prst="rect">
            <a:avLst/>
          </a:prstGeom>
          <a:solidFill>
            <a:srgbClr val="C1121F"/>
          </a:solidFill>
          <a:ln/>
        </p:spPr>
      </p:sp>
      <p:sp>
        <p:nvSpPr>
          <p:cNvPr id="13" name="Text 11"/>
          <p:cNvSpPr/>
          <p:nvPr/>
        </p:nvSpPr>
        <p:spPr>
          <a:xfrm>
            <a:off x="4892040" y="658368"/>
            <a:ext cx="384048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Automation — Skills Layer</a:t>
            </a:r>
            <a:endParaRPr lang="en-US" sz="1200" dirty="0"/>
          </a:p>
        </p:txBody>
      </p:sp>
      <p:sp>
        <p:nvSpPr>
          <p:cNvPr id="14" name="Text 12"/>
          <p:cNvSpPr/>
          <p:nvPr/>
        </p:nvSpPr>
        <p:spPr>
          <a:xfrm>
            <a:off x="4892040" y="1078992"/>
            <a:ext cx="3749040" cy="3657600"/>
          </a:xfrm>
          <a:prstGeom prst="rect">
            <a:avLst/>
          </a:prstGeom>
          <a:noFill/>
          <a:ln/>
        </p:spPr>
        <p:txBody>
          <a:bodyPr wrap="square" rtlCol="0" anchor="ctr"/>
          <a:lstStyle/>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Skills generate MEG (Managed Entity Graph) artifacts automatically</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Skills generate Gateway (GW) artifacts automatically</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Skills trigger pipeline execution</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Automation runs without manual intervention</a:t>
            </a:r>
            <a:endParaRPr lang="en-US" sz="1200" dirty="0"/>
          </a:p>
          <a:p>
            <a:pPr marL="342900" indent="-342900">
              <a:spcAft>
                <a:spcPts val="800"/>
              </a:spcAft>
              <a:buSzPct val="100000"/>
              <a:buChar char="•"/>
            </a:pPr>
            <a:r>
              <a:rPr lang="en-US" sz="1200" dirty="0">
                <a:solidFill>
                  <a:srgbClr val="2C3E50"/>
                </a:solidFill>
                <a:latin typeface="Calibri" pitchFamily="34" charset="0"/>
                <a:ea typeface="Calibri" pitchFamily="34" charset="-122"/>
                <a:cs typeface="Calibri" pitchFamily="34" charset="-120"/>
              </a:rPr>
              <a:t>CEDA collaborates with ampliFi teams for skill alignment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09  |  AI Agents &amp; Artifact Generation</a:t>
            </a:r>
            <a:endParaRPr lang="en-US" sz="2000" dirty="0"/>
          </a:p>
        </p:txBody>
      </p:sp>
      <p:sp>
        <p:nvSpPr>
          <p:cNvPr id="5" name="Text 3"/>
          <p:cNvSpPr/>
          <p:nvPr/>
        </p:nvSpPr>
        <p:spPr>
          <a:xfrm>
            <a:off x="320040" y="594360"/>
            <a:ext cx="8503920" cy="274320"/>
          </a:xfrm>
          <a:prstGeom prst="rect">
            <a:avLst/>
          </a:prstGeom>
          <a:noFill/>
          <a:ln/>
        </p:spPr>
        <p:txBody>
          <a:bodyPr wrap="square" lIns="0" tIns="0" rIns="0" bIns="0" rtlCol="0" anchor="ctr"/>
          <a:lstStyle/>
          <a:p>
            <a:pPr indent="0" marL="0">
              <a:buNone/>
            </a:pPr>
            <a:r>
              <a:rPr lang="en-US" sz="1200" i="1" dirty="0">
                <a:solidFill>
                  <a:srgbClr val="8EABC0"/>
                </a:solidFill>
                <a:latin typeface="Calibri" pitchFamily="34" charset="0"/>
                <a:ea typeface="Calibri" pitchFamily="34" charset="-122"/>
                <a:cs typeface="Calibri" pitchFamily="34" charset="-120"/>
              </a:rPr>
              <a:t>Two Custom AI Agents power the automated artifact pipeline</a:t>
            </a:r>
            <a:endParaRPr lang="en-US" sz="1200" dirty="0"/>
          </a:p>
        </p:txBody>
      </p:sp>
      <p:sp>
        <p:nvSpPr>
          <p:cNvPr id="6" name="Shape 4"/>
          <p:cNvSpPr/>
          <p:nvPr/>
        </p:nvSpPr>
        <p:spPr>
          <a:xfrm>
            <a:off x="320040" y="960120"/>
            <a:ext cx="4114800" cy="3840480"/>
          </a:xfrm>
          <a:prstGeom prst="rect">
            <a:avLst/>
          </a:prstGeom>
          <a:solidFill>
            <a:srgbClr val="1A2E45"/>
          </a:solidFill>
          <a:ln/>
          <a:effectLst>
            <a:outerShdw sx="100000" sy="100000" kx="0" ky="0" algn="bl" rotWithShape="0" blurRad="76200" dist="38100" dir="8100000">
              <a:srgbClr val="000000">
                <a:alpha val="25000"/>
              </a:srgbClr>
            </a:outerShdw>
          </a:effectLst>
        </p:spPr>
      </p:sp>
      <p:sp>
        <p:nvSpPr>
          <p:cNvPr id="7" name="Shape 5"/>
          <p:cNvSpPr/>
          <p:nvPr/>
        </p:nvSpPr>
        <p:spPr>
          <a:xfrm>
            <a:off x="320040" y="960120"/>
            <a:ext cx="4114800" cy="36576"/>
          </a:xfrm>
          <a:prstGeom prst="rect">
            <a:avLst/>
          </a:prstGeom>
          <a:solidFill>
            <a:srgbClr val="0A9396"/>
          </a:solidFill>
          <a:ln/>
        </p:spPr>
      </p:sp>
      <p:sp>
        <p:nvSpPr>
          <p:cNvPr id="8" name="Text 6"/>
          <p:cNvSpPr/>
          <p:nvPr/>
        </p:nvSpPr>
        <p:spPr>
          <a:xfrm>
            <a:off x="502920" y="1024128"/>
            <a:ext cx="3749040" cy="256032"/>
          </a:xfrm>
          <a:prstGeom prst="rect">
            <a:avLst/>
          </a:prstGeom>
          <a:noFill/>
          <a:ln/>
        </p:spPr>
        <p:txBody>
          <a:bodyPr wrap="square" lIns="0" tIns="0" rIns="0" bIns="0" rtlCol="0" anchor="ctr"/>
          <a:lstStyle/>
          <a:p>
            <a:pPr indent="0" marL="0">
              <a:buNone/>
            </a:pPr>
            <a:r>
              <a:rPr lang="en-US" sz="1400" b="1" dirty="0">
                <a:solidFill>
                  <a:srgbClr val="94D2BD"/>
                </a:solidFill>
                <a:latin typeface="Calibri" pitchFamily="34" charset="0"/>
                <a:ea typeface="Calibri" pitchFamily="34" charset="-122"/>
                <a:cs typeface="Calibri" pitchFamily="34" charset="-120"/>
              </a:rPr>
              <a:t>Custom AI Agent</a:t>
            </a:r>
            <a:endParaRPr lang="en-US" sz="1400" dirty="0"/>
          </a:p>
        </p:txBody>
      </p:sp>
      <p:sp>
        <p:nvSpPr>
          <p:cNvPr id="9" name="Text 7"/>
          <p:cNvSpPr/>
          <p:nvPr/>
        </p:nvSpPr>
        <p:spPr>
          <a:xfrm>
            <a:off x="502920" y="1298448"/>
            <a:ext cx="3749040" cy="219456"/>
          </a:xfrm>
          <a:prstGeom prst="rect">
            <a:avLst/>
          </a:prstGeom>
          <a:noFill/>
          <a:ln/>
        </p:spPr>
        <p:txBody>
          <a:bodyPr wrap="square" lIns="0" tIns="0" rIns="0" bIns="0" rtlCol="0" anchor="ctr"/>
          <a:lstStyle/>
          <a:p>
            <a:pPr indent="0" marL="0">
              <a:buNone/>
            </a:pPr>
            <a:r>
              <a:rPr lang="en-US" sz="1100" i="1" dirty="0">
                <a:solidFill>
                  <a:srgbClr val="8EABC0"/>
                </a:solidFill>
                <a:latin typeface="Calibri" pitchFamily="34" charset="0"/>
                <a:ea typeface="Calibri" pitchFamily="34" charset="-122"/>
                <a:cs typeface="Calibri" pitchFamily="34" charset="-120"/>
              </a:rPr>
              <a:t>+Sourcing Skills  (acquisition-artefacts)</a:t>
            </a:r>
            <a:endParaRPr lang="en-US" sz="1100" dirty="0"/>
          </a:p>
        </p:txBody>
      </p:sp>
      <p:sp>
        <p:nvSpPr>
          <p:cNvPr id="10" name="Shape 8"/>
          <p:cNvSpPr/>
          <p:nvPr/>
        </p:nvSpPr>
        <p:spPr>
          <a:xfrm>
            <a:off x="502920" y="1572768"/>
            <a:ext cx="3749040" cy="18288"/>
          </a:xfrm>
          <a:prstGeom prst="rect">
            <a:avLst/>
          </a:prstGeom>
          <a:solidFill>
            <a:srgbClr val="0A9396"/>
          </a:solidFill>
          <a:ln/>
        </p:spPr>
      </p:sp>
      <p:sp>
        <p:nvSpPr>
          <p:cNvPr id="11" name="Shape 9"/>
          <p:cNvSpPr/>
          <p:nvPr/>
        </p:nvSpPr>
        <p:spPr>
          <a:xfrm>
            <a:off x="502920" y="1691640"/>
            <a:ext cx="64008" cy="594360"/>
          </a:xfrm>
          <a:prstGeom prst="rect">
            <a:avLst/>
          </a:prstGeom>
          <a:solidFill>
            <a:srgbClr val="0A9396"/>
          </a:solidFill>
          <a:ln/>
        </p:spPr>
      </p:sp>
      <p:sp>
        <p:nvSpPr>
          <p:cNvPr id="12" name="Text 10"/>
          <p:cNvSpPr/>
          <p:nvPr/>
        </p:nvSpPr>
        <p:spPr>
          <a:xfrm>
            <a:off x="658368" y="1709928"/>
            <a:ext cx="36118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Curation Task</a:t>
            </a:r>
            <a:endParaRPr lang="en-US" sz="1100" dirty="0"/>
          </a:p>
        </p:txBody>
      </p:sp>
      <p:sp>
        <p:nvSpPr>
          <p:cNvPr id="13" name="Text 11"/>
          <p:cNvSpPr/>
          <p:nvPr/>
        </p:nvSpPr>
        <p:spPr>
          <a:xfrm>
            <a:off x="658368" y="1956816"/>
            <a:ext cx="361188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Creates curation task configs for each feed</a:t>
            </a:r>
            <a:endParaRPr lang="en-US" sz="1000" dirty="0"/>
          </a:p>
        </p:txBody>
      </p:sp>
      <p:sp>
        <p:nvSpPr>
          <p:cNvPr id="14" name="Shape 12"/>
          <p:cNvSpPr/>
          <p:nvPr/>
        </p:nvSpPr>
        <p:spPr>
          <a:xfrm>
            <a:off x="502920" y="2441448"/>
            <a:ext cx="64008" cy="594360"/>
          </a:xfrm>
          <a:prstGeom prst="rect">
            <a:avLst/>
          </a:prstGeom>
          <a:solidFill>
            <a:srgbClr val="0A9396"/>
          </a:solidFill>
          <a:ln/>
        </p:spPr>
      </p:sp>
      <p:sp>
        <p:nvSpPr>
          <p:cNvPr id="15" name="Text 13"/>
          <p:cNvSpPr/>
          <p:nvPr/>
        </p:nvSpPr>
        <p:spPr>
          <a:xfrm>
            <a:off x="658368" y="2459736"/>
            <a:ext cx="36118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Tokenization Task</a:t>
            </a:r>
            <a:endParaRPr lang="en-US" sz="1100" dirty="0"/>
          </a:p>
        </p:txBody>
      </p:sp>
      <p:sp>
        <p:nvSpPr>
          <p:cNvPr id="16" name="Text 14"/>
          <p:cNvSpPr/>
          <p:nvPr/>
        </p:nvSpPr>
        <p:spPr>
          <a:xfrm>
            <a:off x="658368" y="2706624"/>
            <a:ext cx="361188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Generates tokenization task definitions</a:t>
            </a:r>
            <a:endParaRPr lang="en-US" sz="1000" dirty="0"/>
          </a:p>
        </p:txBody>
      </p:sp>
      <p:sp>
        <p:nvSpPr>
          <p:cNvPr id="17" name="Shape 15"/>
          <p:cNvSpPr/>
          <p:nvPr/>
        </p:nvSpPr>
        <p:spPr>
          <a:xfrm>
            <a:off x="502920" y="3191256"/>
            <a:ext cx="64008" cy="594360"/>
          </a:xfrm>
          <a:prstGeom prst="rect">
            <a:avLst/>
          </a:prstGeom>
          <a:solidFill>
            <a:srgbClr val="0A9396"/>
          </a:solidFill>
          <a:ln/>
        </p:spPr>
      </p:sp>
      <p:sp>
        <p:nvSpPr>
          <p:cNvPr id="18" name="Text 16"/>
          <p:cNvSpPr/>
          <p:nvPr/>
        </p:nvSpPr>
        <p:spPr>
          <a:xfrm>
            <a:off x="658368" y="3209544"/>
            <a:ext cx="36118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Dataset via DRS</a:t>
            </a:r>
            <a:endParaRPr lang="en-US" sz="1100" dirty="0"/>
          </a:p>
        </p:txBody>
      </p:sp>
      <p:sp>
        <p:nvSpPr>
          <p:cNvPr id="19" name="Text 17"/>
          <p:cNvSpPr/>
          <p:nvPr/>
        </p:nvSpPr>
        <p:spPr>
          <a:xfrm>
            <a:off x="658368" y="3456432"/>
            <a:ext cx="361188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Creates datasets through Dataset Registration Service</a:t>
            </a:r>
            <a:endParaRPr lang="en-US" sz="1000" dirty="0"/>
          </a:p>
        </p:txBody>
      </p:sp>
      <p:sp>
        <p:nvSpPr>
          <p:cNvPr id="20" name="Shape 18"/>
          <p:cNvSpPr/>
          <p:nvPr/>
        </p:nvSpPr>
        <p:spPr>
          <a:xfrm>
            <a:off x="502920" y="3941064"/>
            <a:ext cx="64008" cy="594360"/>
          </a:xfrm>
          <a:prstGeom prst="rect">
            <a:avLst/>
          </a:prstGeom>
          <a:solidFill>
            <a:srgbClr val="0A9396"/>
          </a:solidFill>
          <a:ln/>
        </p:spPr>
      </p:sp>
      <p:sp>
        <p:nvSpPr>
          <p:cNvPr id="21" name="Text 19"/>
          <p:cNvSpPr/>
          <p:nvPr/>
        </p:nvSpPr>
        <p:spPr>
          <a:xfrm>
            <a:off x="658368" y="3959352"/>
            <a:ext cx="36118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MEG Artifacts</a:t>
            </a:r>
            <a:endParaRPr lang="en-US" sz="1100" dirty="0"/>
          </a:p>
        </p:txBody>
      </p:sp>
      <p:sp>
        <p:nvSpPr>
          <p:cNvPr id="22" name="Text 20"/>
          <p:cNvSpPr/>
          <p:nvPr/>
        </p:nvSpPr>
        <p:spPr>
          <a:xfrm>
            <a:off x="658368" y="4206240"/>
            <a:ext cx="361188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Promoted to DEV via GitLab MR after review</a:t>
            </a:r>
            <a:endParaRPr lang="en-US" sz="1000" dirty="0"/>
          </a:p>
        </p:txBody>
      </p:sp>
      <p:sp>
        <p:nvSpPr>
          <p:cNvPr id="23" name="Shape 21"/>
          <p:cNvSpPr/>
          <p:nvPr/>
        </p:nvSpPr>
        <p:spPr>
          <a:xfrm>
            <a:off x="4754880" y="960120"/>
            <a:ext cx="4069080" cy="3840480"/>
          </a:xfrm>
          <a:prstGeom prst="rect">
            <a:avLst/>
          </a:prstGeom>
          <a:solidFill>
            <a:srgbClr val="1A2E45"/>
          </a:solidFill>
          <a:ln/>
          <a:effectLst>
            <a:outerShdw sx="100000" sy="100000" kx="0" ky="0" algn="bl" rotWithShape="0" blurRad="76200" dist="38100" dir="8100000">
              <a:srgbClr val="000000">
                <a:alpha val="25000"/>
              </a:srgbClr>
            </a:outerShdw>
          </a:effectLst>
        </p:spPr>
      </p:sp>
      <p:sp>
        <p:nvSpPr>
          <p:cNvPr id="24" name="Shape 22"/>
          <p:cNvSpPr/>
          <p:nvPr/>
        </p:nvSpPr>
        <p:spPr>
          <a:xfrm>
            <a:off x="4754880" y="960120"/>
            <a:ext cx="4069080" cy="36576"/>
          </a:xfrm>
          <a:prstGeom prst="rect">
            <a:avLst/>
          </a:prstGeom>
          <a:solidFill>
            <a:srgbClr val="C1121F"/>
          </a:solidFill>
          <a:ln/>
        </p:spPr>
      </p:sp>
      <p:sp>
        <p:nvSpPr>
          <p:cNvPr id="25" name="Text 23"/>
          <p:cNvSpPr/>
          <p:nvPr/>
        </p:nvSpPr>
        <p:spPr>
          <a:xfrm>
            <a:off x="4937760" y="1024128"/>
            <a:ext cx="3657600" cy="256032"/>
          </a:xfrm>
          <a:prstGeom prst="rect">
            <a:avLst/>
          </a:prstGeom>
          <a:noFill/>
          <a:ln/>
        </p:spPr>
        <p:txBody>
          <a:bodyPr wrap="square" lIns="0" tIns="0" rIns="0" bIns="0" rtlCol="0" anchor="ctr"/>
          <a:lstStyle/>
          <a:p>
            <a:pPr indent="0" marL="0">
              <a:buNone/>
            </a:pPr>
            <a:r>
              <a:rPr lang="en-US" sz="1400" b="1" dirty="0">
                <a:solidFill>
                  <a:srgbClr val="FF8FA3"/>
                </a:solidFill>
                <a:latin typeface="Calibri" pitchFamily="34" charset="0"/>
                <a:ea typeface="Calibri" pitchFamily="34" charset="-122"/>
                <a:cs typeface="Calibri" pitchFamily="34" charset="-120"/>
              </a:rPr>
              <a:t>Custom AI Agent</a:t>
            </a:r>
            <a:endParaRPr lang="en-US" sz="1400" dirty="0"/>
          </a:p>
        </p:txBody>
      </p:sp>
      <p:sp>
        <p:nvSpPr>
          <p:cNvPr id="26" name="Text 24"/>
          <p:cNvSpPr/>
          <p:nvPr/>
        </p:nvSpPr>
        <p:spPr>
          <a:xfrm>
            <a:off x="4937760" y="1298448"/>
            <a:ext cx="3657600" cy="219456"/>
          </a:xfrm>
          <a:prstGeom prst="rect">
            <a:avLst/>
          </a:prstGeom>
          <a:noFill/>
          <a:ln/>
        </p:spPr>
        <p:txBody>
          <a:bodyPr wrap="square" lIns="0" tIns="0" rIns="0" bIns="0" rtlCol="0" anchor="ctr"/>
          <a:lstStyle/>
          <a:p>
            <a:pPr indent="0" marL="0">
              <a:buNone/>
            </a:pPr>
            <a:r>
              <a:rPr lang="en-US" sz="1100" i="1" dirty="0">
                <a:solidFill>
                  <a:srgbClr val="8EABC0"/>
                </a:solidFill>
                <a:latin typeface="Calibri" pitchFamily="34" charset="0"/>
                <a:ea typeface="Calibri" pitchFamily="34" charset="-122"/>
                <a:cs typeface="Calibri" pitchFamily="34" charset="-120"/>
              </a:rPr>
              <a:t>+GW Skills  (Gateway Artifact Generation)</a:t>
            </a:r>
            <a:endParaRPr lang="en-US" sz="1100" dirty="0"/>
          </a:p>
        </p:txBody>
      </p:sp>
      <p:sp>
        <p:nvSpPr>
          <p:cNvPr id="27" name="Shape 25"/>
          <p:cNvSpPr/>
          <p:nvPr/>
        </p:nvSpPr>
        <p:spPr>
          <a:xfrm>
            <a:off x="4937760" y="1572768"/>
            <a:ext cx="3749040" cy="18288"/>
          </a:xfrm>
          <a:prstGeom prst="rect">
            <a:avLst/>
          </a:prstGeom>
          <a:solidFill>
            <a:srgbClr val="C1121F"/>
          </a:solidFill>
          <a:ln/>
        </p:spPr>
      </p:sp>
      <p:sp>
        <p:nvSpPr>
          <p:cNvPr id="28" name="Shape 26"/>
          <p:cNvSpPr/>
          <p:nvPr/>
        </p:nvSpPr>
        <p:spPr>
          <a:xfrm>
            <a:off x="4937760" y="1691640"/>
            <a:ext cx="64008" cy="594360"/>
          </a:xfrm>
          <a:prstGeom prst="rect">
            <a:avLst/>
          </a:prstGeom>
          <a:solidFill>
            <a:srgbClr val="C1121F"/>
          </a:solidFill>
          <a:ln/>
        </p:spPr>
      </p:sp>
      <p:sp>
        <p:nvSpPr>
          <p:cNvPr id="29" name="Text 27"/>
          <p:cNvSpPr/>
          <p:nvPr/>
        </p:nvSpPr>
        <p:spPr>
          <a:xfrm>
            <a:off x="5093208" y="1709928"/>
            <a:ext cx="356616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Airflow DAGs</a:t>
            </a:r>
            <a:endParaRPr lang="en-US" sz="1100" dirty="0"/>
          </a:p>
        </p:txBody>
      </p:sp>
      <p:sp>
        <p:nvSpPr>
          <p:cNvPr id="30" name="Text 28"/>
          <p:cNvSpPr/>
          <p:nvPr/>
        </p:nvSpPr>
        <p:spPr>
          <a:xfrm>
            <a:off x="5093208" y="1956816"/>
            <a:ext cx="356616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Auto-generates Directed Acyclic Graph definitions for pipeline orchestration</a:t>
            </a:r>
            <a:endParaRPr lang="en-US" sz="1000" dirty="0"/>
          </a:p>
        </p:txBody>
      </p:sp>
      <p:sp>
        <p:nvSpPr>
          <p:cNvPr id="31" name="Shape 29"/>
          <p:cNvSpPr/>
          <p:nvPr/>
        </p:nvSpPr>
        <p:spPr>
          <a:xfrm>
            <a:off x="4937760" y="2441448"/>
            <a:ext cx="64008" cy="594360"/>
          </a:xfrm>
          <a:prstGeom prst="rect">
            <a:avLst/>
          </a:prstGeom>
          <a:solidFill>
            <a:srgbClr val="C1121F"/>
          </a:solidFill>
          <a:ln/>
        </p:spPr>
      </p:sp>
      <p:sp>
        <p:nvSpPr>
          <p:cNvPr id="32" name="Text 30"/>
          <p:cNvSpPr/>
          <p:nvPr/>
        </p:nvSpPr>
        <p:spPr>
          <a:xfrm>
            <a:off x="5093208" y="2459736"/>
            <a:ext cx="356616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Task Configs</a:t>
            </a:r>
            <a:endParaRPr lang="en-US" sz="1100" dirty="0"/>
          </a:p>
        </p:txBody>
      </p:sp>
      <p:sp>
        <p:nvSpPr>
          <p:cNvPr id="33" name="Text 31"/>
          <p:cNvSpPr/>
          <p:nvPr/>
        </p:nvSpPr>
        <p:spPr>
          <a:xfrm>
            <a:off x="5093208" y="2706624"/>
            <a:ext cx="356616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Produces task configuration files for each pipeline step</a:t>
            </a:r>
            <a:endParaRPr lang="en-US" sz="1000" dirty="0"/>
          </a:p>
        </p:txBody>
      </p:sp>
      <p:sp>
        <p:nvSpPr>
          <p:cNvPr id="34" name="Shape 32"/>
          <p:cNvSpPr/>
          <p:nvPr/>
        </p:nvSpPr>
        <p:spPr>
          <a:xfrm>
            <a:off x="4937760" y="3191256"/>
            <a:ext cx="64008" cy="594360"/>
          </a:xfrm>
          <a:prstGeom prst="rect">
            <a:avLst/>
          </a:prstGeom>
          <a:solidFill>
            <a:srgbClr val="C1121F"/>
          </a:solidFill>
          <a:ln/>
        </p:spPr>
      </p:sp>
      <p:sp>
        <p:nvSpPr>
          <p:cNvPr id="35" name="Text 33"/>
          <p:cNvSpPr/>
          <p:nvPr/>
        </p:nvSpPr>
        <p:spPr>
          <a:xfrm>
            <a:off x="5093208" y="3209544"/>
            <a:ext cx="356616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GW Artifacts</a:t>
            </a:r>
            <a:endParaRPr lang="en-US" sz="1100" dirty="0"/>
          </a:p>
        </p:txBody>
      </p:sp>
      <p:sp>
        <p:nvSpPr>
          <p:cNvPr id="36" name="Text 34"/>
          <p:cNvSpPr/>
          <p:nvPr/>
        </p:nvSpPr>
        <p:spPr>
          <a:xfrm>
            <a:off x="5093208" y="3456432"/>
            <a:ext cx="356616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Gateway artifacts promoted to DEV via GitLab MR</a:t>
            </a:r>
            <a:endParaRPr lang="en-US" sz="1000" dirty="0"/>
          </a:p>
        </p:txBody>
      </p:sp>
      <p:sp>
        <p:nvSpPr>
          <p:cNvPr id="37" name="Shape 35"/>
          <p:cNvSpPr/>
          <p:nvPr/>
        </p:nvSpPr>
        <p:spPr>
          <a:xfrm>
            <a:off x="4937760" y="3941064"/>
            <a:ext cx="64008" cy="594360"/>
          </a:xfrm>
          <a:prstGeom prst="rect">
            <a:avLst/>
          </a:prstGeom>
          <a:solidFill>
            <a:srgbClr val="C1121F"/>
          </a:solidFill>
          <a:ln/>
        </p:spPr>
      </p:sp>
      <p:sp>
        <p:nvSpPr>
          <p:cNvPr id="38" name="Text 36"/>
          <p:cNvSpPr/>
          <p:nvPr/>
        </p:nvSpPr>
        <p:spPr>
          <a:xfrm>
            <a:off x="5093208" y="3959352"/>
            <a:ext cx="356616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Kafka Events</a:t>
            </a:r>
            <a:endParaRPr lang="en-US" sz="1100" dirty="0"/>
          </a:p>
        </p:txBody>
      </p:sp>
      <p:sp>
        <p:nvSpPr>
          <p:cNvPr id="39" name="Text 37"/>
          <p:cNvSpPr/>
          <p:nvPr/>
        </p:nvSpPr>
        <p:spPr>
          <a:xfrm>
            <a:off x="5093208" y="4206240"/>
            <a:ext cx="3566160" cy="274320"/>
          </a:xfrm>
          <a:prstGeom prst="rect">
            <a:avLst/>
          </a:prstGeom>
          <a:noFill/>
          <a:ln/>
        </p:spPr>
        <p:txBody>
          <a:bodyPr wrap="square" lIns="0" tIns="0" rIns="0" bIns="0" rtlCol="0" anchor="ctr"/>
          <a:lstStyle/>
          <a:p>
            <a:pPr indent="0" marL="0">
              <a:buNone/>
            </a:pPr>
            <a:r>
              <a:rPr lang="en-US" sz="1000" dirty="0">
                <a:solidFill>
                  <a:srgbClr val="8EABC0"/>
                </a:solidFill>
                <a:latin typeface="Calibri" pitchFamily="34" charset="0"/>
                <a:ea typeface="Calibri" pitchFamily="34" charset="-122"/>
                <a:cs typeface="Calibri" pitchFamily="34" charset="-120"/>
              </a:rPr>
              <a:t>Events emitted via kafka for downstream notification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10  |  Data Pipeline Execution</a:t>
            </a:r>
            <a:endParaRPr lang="en-US" sz="2000" dirty="0"/>
          </a:p>
        </p:txBody>
      </p:sp>
      <p:sp>
        <p:nvSpPr>
          <p:cNvPr id="5" name="Shape 3"/>
          <p:cNvSpPr/>
          <p:nvPr/>
        </p:nvSpPr>
        <p:spPr>
          <a:xfrm>
            <a:off x="320040" y="640080"/>
            <a:ext cx="8503920" cy="457200"/>
          </a:xfrm>
          <a:prstGeom prst="rect">
            <a:avLst/>
          </a:prstGeom>
          <a:solidFill>
            <a:srgbClr val="1A2E45"/>
          </a:solidFill>
          <a:ln/>
        </p:spPr>
      </p:sp>
      <p:sp>
        <p:nvSpPr>
          <p:cNvPr id="6" name="Text 4"/>
          <p:cNvSpPr/>
          <p:nvPr/>
        </p:nvSpPr>
        <p:spPr>
          <a:xfrm>
            <a:off x="502920" y="676656"/>
            <a:ext cx="8229600" cy="384048"/>
          </a:xfrm>
          <a:prstGeom prst="rect">
            <a:avLst/>
          </a:prstGeom>
          <a:noFill/>
          <a:ln/>
        </p:spPr>
        <p:txBody>
          <a:bodyPr wrap="square" lIns="0" tIns="0" rIns="0" bIns="0" rtlCol="0" anchor="ctr"/>
          <a:lstStyle/>
          <a:p>
            <a:pPr indent="0" marL="0">
              <a:buNone/>
            </a:pPr>
            <a:r>
              <a:rPr lang="en-US" sz="1100" i="1" dirty="0">
                <a:solidFill>
                  <a:srgbClr val="94D2BD"/>
                </a:solidFill>
                <a:latin typeface="Calibri" pitchFamily="34" charset="0"/>
                <a:ea typeface="Calibri" pitchFamily="34" charset="-122"/>
                <a:cs typeface="Calibri" pitchFamily="34" charset="-120"/>
              </a:rPr>
              <a:t>Airflow DAGs and task configs generated by AI Agents drive the complete pipeline execution lifecycle</a:t>
            </a:r>
            <a:endParaRPr lang="en-US" sz="1100" dirty="0"/>
          </a:p>
        </p:txBody>
      </p:sp>
      <p:sp>
        <p:nvSpPr>
          <p:cNvPr id="7" name="Shape 5"/>
          <p:cNvSpPr/>
          <p:nvPr/>
        </p:nvSpPr>
        <p:spPr>
          <a:xfrm>
            <a:off x="320040" y="1207008"/>
            <a:ext cx="2743200" cy="3566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8" name="Shape 6"/>
          <p:cNvSpPr/>
          <p:nvPr/>
        </p:nvSpPr>
        <p:spPr>
          <a:xfrm>
            <a:off x="320040" y="1207008"/>
            <a:ext cx="2743200" cy="384048"/>
          </a:xfrm>
          <a:prstGeom prst="rect">
            <a:avLst/>
          </a:prstGeom>
          <a:solidFill>
            <a:srgbClr val="0A9396"/>
          </a:solidFill>
          <a:ln/>
        </p:spPr>
      </p:sp>
      <p:sp>
        <p:nvSpPr>
          <p:cNvPr id="9" name="Text 7"/>
          <p:cNvSpPr/>
          <p:nvPr/>
        </p:nvSpPr>
        <p:spPr>
          <a:xfrm>
            <a:off x="429768" y="1225296"/>
            <a:ext cx="25146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Data Ingestion</a:t>
            </a:r>
            <a:endParaRPr lang="en-US" sz="1300" dirty="0"/>
          </a:p>
        </p:txBody>
      </p:sp>
      <p:sp>
        <p:nvSpPr>
          <p:cNvPr id="10" name="Text 8"/>
          <p:cNvSpPr/>
          <p:nvPr/>
        </p:nvSpPr>
        <p:spPr>
          <a:xfrm>
            <a:off x="429768" y="1664208"/>
            <a:ext cx="2514600" cy="3017520"/>
          </a:xfrm>
          <a:prstGeom prst="rect">
            <a:avLst/>
          </a:prstGeom>
          <a:noFill/>
          <a:ln/>
        </p:spPr>
        <p:txBody>
          <a:bodyPr wrap="square" rtlCol="0" anchor="ctr"/>
          <a:lstStyle/>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Pipelines perform data ingestion from source feeds</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Format validation on ingested data</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Data transformations applied</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Data onboarding completed into target zones</a:t>
            </a:r>
            <a:endParaRPr lang="en-US" sz="1100" dirty="0"/>
          </a:p>
        </p:txBody>
      </p:sp>
      <p:sp>
        <p:nvSpPr>
          <p:cNvPr id="11" name="Shape 9"/>
          <p:cNvSpPr/>
          <p:nvPr/>
        </p:nvSpPr>
        <p:spPr>
          <a:xfrm>
            <a:off x="3172968" y="1207008"/>
            <a:ext cx="2743200" cy="3566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2" name="Shape 10"/>
          <p:cNvSpPr/>
          <p:nvPr/>
        </p:nvSpPr>
        <p:spPr>
          <a:xfrm>
            <a:off x="3172968" y="1207008"/>
            <a:ext cx="2743200" cy="384048"/>
          </a:xfrm>
          <a:prstGeom prst="rect">
            <a:avLst/>
          </a:prstGeom>
          <a:solidFill>
            <a:srgbClr val="C1121F"/>
          </a:solidFill>
          <a:ln/>
        </p:spPr>
      </p:sp>
      <p:sp>
        <p:nvSpPr>
          <p:cNvPr id="13" name="Text 11"/>
          <p:cNvSpPr/>
          <p:nvPr/>
        </p:nvSpPr>
        <p:spPr>
          <a:xfrm>
            <a:off x="3282696" y="1225296"/>
            <a:ext cx="25146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Quality &amp; Integrity</a:t>
            </a:r>
            <a:endParaRPr lang="en-US" sz="1300" dirty="0"/>
          </a:p>
        </p:txBody>
      </p:sp>
      <p:sp>
        <p:nvSpPr>
          <p:cNvPr id="14" name="Text 12"/>
          <p:cNvSpPr/>
          <p:nvPr/>
        </p:nvSpPr>
        <p:spPr>
          <a:xfrm>
            <a:off x="3282696" y="1664208"/>
            <a:ext cx="2514600" cy="3017520"/>
          </a:xfrm>
          <a:prstGeom prst="rect">
            <a:avLst/>
          </a:prstGeom>
          <a:noFill/>
          <a:ln/>
        </p:spPr>
        <p:txBody>
          <a:bodyPr wrap="square" rtlCol="0" anchor="ctr"/>
          <a:lstStyle/>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Pipelines ensure data quality checks</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Integrity checks on all ingested records</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Schema conformance verified</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Failed records flagged and quarantined</a:t>
            </a:r>
            <a:endParaRPr lang="en-US" sz="1100" dirty="0"/>
          </a:p>
        </p:txBody>
      </p:sp>
      <p:sp>
        <p:nvSpPr>
          <p:cNvPr id="15" name="Shape 13"/>
          <p:cNvSpPr/>
          <p:nvPr/>
        </p:nvSpPr>
        <p:spPr>
          <a:xfrm>
            <a:off x="6025896" y="1207008"/>
            <a:ext cx="2743200" cy="3566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6" name="Shape 14"/>
          <p:cNvSpPr/>
          <p:nvPr/>
        </p:nvSpPr>
        <p:spPr>
          <a:xfrm>
            <a:off x="6025896" y="1207008"/>
            <a:ext cx="2743200" cy="384048"/>
          </a:xfrm>
          <a:prstGeom prst="rect">
            <a:avLst/>
          </a:prstGeom>
          <a:solidFill>
            <a:srgbClr val="52B788"/>
          </a:solidFill>
          <a:ln/>
        </p:spPr>
      </p:sp>
      <p:sp>
        <p:nvSpPr>
          <p:cNvPr id="17" name="Text 15"/>
          <p:cNvSpPr/>
          <p:nvPr/>
        </p:nvSpPr>
        <p:spPr>
          <a:xfrm>
            <a:off x="6135624" y="1225296"/>
            <a:ext cx="25146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Artifact Promotion</a:t>
            </a:r>
            <a:endParaRPr lang="en-US" sz="1300" dirty="0"/>
          </a:p>
        </p:txBody>
      </p:sp>
      <p:sp>
        <p:nvSpPr>
          <p:cNvPr id="18" name="Text 16"/>
          <p:cNvSpPr/>
          <p:nvPr/>
        </p:nvSpPr>
        <p:spPr>
          <a:xfrm>
            <a:off x="6135624" y="1664208"/>
            <a:ext cx="2514600" cy="3017520"/>
          </a:xfrm>
          <a:prstGeom prst="rect">
            <a:avLst/>
          </a:prstGeom>
          <a:noFill/>
          <a:ln/>
        </p:spPr>
        <p:txBody>
          <a:bodyPr wrap="square" rtlCol="0" anchor="ctr"/>
          <a:lstStyle/>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MEG artifacts promoted via GitLab MR</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GW artifacts promoted via GitLab MR</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Auto deployment via UBSDeploy to DEV</a:t>
            </a:r>
            <a:endParaRPr lang="en-US" sz="1100" dirty="0"/>
          </a:p>
          <a:p>
            <a:pPr marL="342900" indent="-342900">
              <a:spcAft>
                <a:spcPts val="600"/>
              </a:spcAft>
              <a:buSzPct val="100000"/>
              <a:buChar char="•"/>
            </a:pPr>
            <a:r>
              <a:rPr lang="en-US" sz="1100" dirty="0">
                <a:solidFill>
                  <a:srgbClr val="2C3E50"/>
                </a:solidFill>
                <a:latin typeface="Calibri" pitchFamily="34" charset="0"/>
                <a:ea typeface="Calibri" pitchFamily="34" charset="-122"/>
                <a:cs typeface="Calibri" pitchFamily="34" charset="-120"/>
              </a:rPr>
              <a:t>kafka events fired on successful promotion</a:t>
            </a:r>
            <a:endParaRPr lang="en-US" sz="1100" dirty="0"/>
          </a:p>
        </p:txBody>
      </p:sp>
      <p:sp>
        <p:nvSpPr>
          <p:cNvPr id="19" name="Text 17"/>
          <p:cNvSpPr/>
          <p:nvPr/>
        </p:nvSpPr>
        <p:spPr>
          <a:xfrm>
            <a:off x="320040" y="4846320"/>
            <a:ext cx="8503920" cy="201168"/>
          </a:xfrm>
          <a:prstGeom prst="rect">
            <a:avLst/>
          </a:prstGeom>
          <a:noFill/>
          <a:ln/>
        </p:spPr>
        <p:txBody>
          <a:bodyPr wrap="square" lIns="0" tIns="0" rIns="0" bIns="0" rtlCol="0" anchor="ctr"/>
          <a:lstStyle/>
          <a:p>
            <a:pPr algn="ctr" indent="0" marL="0">
              <a:buNone/>
            </a:pPr>
            <a:r>
              <a:rPr lang="en-US" sz="950" i="1" dirty="0">
                <a:solidFill>
                  <a:srgbClr val="8EABC0"/>
                </a:solidFill>
                <a:latin typeface="Calibri" pitchFamily="34" charset="0"/>
                <a:ea typeface="Calibri" pitchFamily="34" charset="-122"/>
                <a:cs typeface="Calibri" pitchFamily="34" charset="-120"/>
              </a:rPr>
              <a:t>All pipeline steps are governed by metadata from the Acquisition App DB — no hardcoded logic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p:spPr>
      </p:sp>
      <p:sp>
        <p:nvSpPr>
          <p:cNvPr id="3" name="Shape 1"/>
          <p:cNvSpPr/>
          <p:nvPr/>
        </p:nvSpPr>
        <p:spPr>
          <a:xfrm>
            <a:off x="0" y="502920"/>
            <a:ext cx="9144000" cy="36576"/>
          </a:xfrm>
          <a:prstGeom prst="rect">
            <a:avLst/>
          </a:prstGeom>
          <a:solidFill>
            <a:srgbClr val="0A9396"/>
          </a:solidFill>
          <a:ln/>
        </p:spPr>
      </p:sp>
      <p:sp>
        <p:nvSpPr>
          <p:cNvPr id="4" name="Text 2"/>
          <p:cNvSpPr/>
          <p:nvPr/>
        </p:nvSpPr>
        <p:spPr>
          <a:xfrm>
            <a:off x="365760" y="64008"/>
            <a:ext cx="841248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11  |  Integration &amp; Consumption — Final Outcome</a:t>
            </a:r>
            <a:endParaRPr lang="en-US" sz="2000" dirty="0"/>
          </a:p>
        </p:txBody>
      </p:sp>
      <p:sp>
        <p:nvSpPr>
          <p:cNvPr id="5" name="Shape 3"/>
          <p:cNvSpPr/>
          <p:nvPr/>
        </p:nvSpPr>
        <p:spPr>
          <a:xfrm>
            <a:off x="320040" y="640080"/>
            <a:ext cx="4114800" cy="23774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20040" y="640080"/>
            <a:ext cx="4114800" cy="347472"/>
          </a:xfrm>
          <a:prstGeom prst="rect">
            <a:avLst/>
          </a:prstGeom>
          <a:solidFill>
            <a:srgbClr val="0A9396"/>
          </a:solidFill>
          <a:ln/>
        </p:spPr>
      </p:sp>
      <p:sp>
        <p:nvSpPr>
          <p:cNvPr id="7" name="Text 5"/>
          <p:cNvSpPr/>
          <p:nvPr/>
        </p:nvSpPr>
        <p:spPr>
          <a:xfrm>
            <a:off x="457200" y="658368"/>
            <a:ext cx="393192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Integration &amp; Consumption</a:t>
            </a:r>
            <a:endParaRPr lang="en-US" sz="1200" dirty="0"/>
          </a:p>
        </p:txBody>
      </p:sp>
      <p:sp>
        <p:nvSpPr>
          <p:cNvPr id="8" name="Text 6"/>
          <p:cNvSpPr/>
          <p:nvPr/>
        </p:nvSpPr>
        <p:spPr>
          <a:xfrm>
            <a:off x="502920" y="1060704"/>
            <a:ext cx="3840480" cy="256032"/>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Metadata and processed data are consumed by:</a:t>
            </a:r>
            <a:endParaRPr lang="en-US" sz="1100" dirty="0"/>
          </a:p>
        </p:txBody>
      </p:sp>
      <p:sp>
        <p:nvSpPr>
          <p:cNvPr id="9" name="Shape 7"/>
          <p:cNvSpPr/>
          <p:nvPr/>
        </p:nvSpPr>
        <p:spPr>
          <a:xfrm>
            <a:off x="502920" y="1389888"/>
            <a:ext cx="3749040" cy="347472"/>
          </a:xfrm>
          <a:prstGeom prst="rect">
            <a:avLst/>
          </a:prstGeom>
          <a:solidFill>
            <a:srgbClr val="1A2E45"/>
          </a:solidFill>
          <a:ln/>
        </p:spPr>
      </p:sp>
      <p:sp>
        <p:nvSpPr>
          <p:cNvPr id="10" name="Text 8"/>
          <p:cNvSpPr/>
          <p:nvPr/>
        </p:nvSpPr>
        <p:spPr>
          <a:xfrm>
            <a:off x="640080" y="1389888"/>
            <a:ext cx="3566160" cy="347472"/>
          </a:xfrm>
          <a:prstGeom prst="rect">
            <a:avLst/>
          </a:prstGeom>
          <a:noFill/>
          <a:ln/>
        </p:spPr>
        <p:txBody>
          <a:bodyPr wrap="square" lIns="0" tIns="0" rIns="0" bIns="0" rtlCol="0" anchor="ctr"/>
          <a:lstStyle/>
          <a:p>
            <a:pPr indent="0" marL="0">
              <a:buNone/>
            </a:pPr>
            <a:r>
              <a:rPr lang="en-US" sz="1100" b="1" dirty="0">
                <a:solidFill>
                  <a:srgbClr val="94D2BD"/>
                </a:solidFill>
                <a:latin typeface="Calibri" pitchFamily="34" charset="0"/>
                <a:ea typeface="Calibri" pitchFamily="34" charset="-122"/>
                <a:cs typeface="Calibri" pitchFamily="34" charset="-120"/>
              </a:rPr>
              <a:t>Rules Repository</a:t>
            </a:r>
            <a:endParaRPr lang="en-US" sz="1100" dirty="0"/>
          </a:p>
        </p:txBody>
      </p:sp>
      <p:sp>
        <p:nvSpPr>
          <p:cNvPr id="11" name="Shape 9"/>
          <p:cNvSpPr/>
          <p:nvPr/>
        </p:nvSpPr>
        <p:spPr>
          <a:xfrm>
            <a:off x="502920" y="1847088"/>
            <a:ext cx="3749040" cy="347472"/>
          </a:xfrm>
          <a:prstGeom prst="rect">
            <a:avLst/>
          </a:prstGeom>
          <a:solidFill>
            <a:srgbClr val="1A2E45"/>
          </a:solidFill>
          <a:ln/>
        </p:spPr>
      </p:sp>
      <p:sp>
        <p:nvSpPr>
          <p:cNvPr id="12" name="Text 10"/>
          <p:cNvSpPr/>
          <p:nvPr/>
        </p:nvSpPr>
        <p:spPr>
          <a:xfrm>
            <a:off x="640080" y="1847088"/>
            <a:ext cx="3566160" cy="347472"/>
          </a:xfrm>
          <a:prstGeom prst="rect">
            <a:avLst/>
          </a:prstGeom>
          <a:noFill/>
          <a:ln/>
        </p:spPr>
        <p:txBody>
          <a:bodyPr wrap="square" lIns="0" tIns="0" rIns="0" bIns="0" rtlCol="0" anchor="ctr"/>
          <a:lstStyle/>
          <a:p>
            <a:pPr indent="0" marL="0">
              <a:buNone/>
            </a:pPr>
            <a:r>
              <a:rPr lang="en-US" sz="1100" b="1" dirty="0">
                <a:solidFill>
                  <a:srgbClr val="94D2BD"/>
                </a:solidFill>
                <a:latin typeface="Calibri" pitchFamily="34" charset="0"/>
                <a:ea typeface="Calibri" pitchFamily="34" charset="-122"/>
                <a:cs typeface="Calibri" pitchFamily="34" charset="-120"/>
              </a:rPr>
              <a:t>Adjustment Apps</a:t>
            </a:r>
            <a:endParaRPr lang="en-US" sz="1100" dirty="0"/>
          </a:p>
        </p:txBody>
      </p:sp>
      <p:sp>
        <p:nvSpPr>
          <p:cNvPr id="13" name="Shape 11"/>
          <p:cNvSpPr/>
          <p:nvPr/>
        </p:nvSpPr>
        <p:spPr>
          <a:xfrm>
            <a:off x="502920" y="2304288"/>
            <a:ext cx="3749040" cy="347472"/>
          </a:xfrm>
          <a:prstGeom prst="rect">
            <a:avLst/>
          </a:prstGeom>
          <a:solidFill>
            <a:srgbClr val="1A2E45"/>
          </a:solidFill>
          <a:ln/>
        </p:spPr>
      </p:sp>
      <p:sp>
        <p:nvSpPr>
          <p:cNvPr id="14" name="Text 12"/>
          <p:cNvSpPr/>
          <p:nvPr/>
        </p:nvSpPr>
        <p:spPr>
          <a:xfrm>
            <a:off x="640080" y="2304288"/>
            <a:ext cx="3566160" cy="347472"/>
          </a:xfrm>
          <a:prstGeom prst="rect">
            <a:avLst/>
          </a:prstGeom>
          <a:noFill/>
          <a:ln/>
        </p:spPr>
        <p:txBody>
          <a:bodyPr wrap="square" lIns="0" tIns="0" rIns="0" bIns="0" rtlCol="0" anchor="ctr"/>
          <a:lstStyle/>
          <a:p>
            <a:pPr indent="0" marL="0">
              <a:buNone/>
            </a:pPr>
            <a:r>
              <a:rPr lang="en-US" sz="1100" b="1" dirty="0">
                <a:solidFill>
                  <a:srgbClr val="94D2BD"/>
                </a:solidFill>
                <a:latin typeface="Calibri" pitchFamily="34" charset="0"/>
                <a:ea typeface="Calibri" pitchFamily="34" charset="-122"/>
                <a:cs typeface="Calibri" pitchFamily="34" charset="-120"/>
              </a:rPr>
              <a:t>Feed Measurement Systems</a:t>
            </a:r>
            <a:endParaRPr lang="en-US" sz="1100" dirty="0"/>
          </a:p>
        </p:txBody>
      </p:sp>
      <p:sp>
        <p:nvSpPr>
          <p:cNvPr id="15" name="Shape 13"/>
          <p:cNvSpPr/>
          <p:nvPr/>
        </p:nvSpPr>
        <p:spPr>
          <a:xfrm>
            <a:off x="4754880" y="640080"/>
            <a:ext cx="4069080" cy="2377440"/>
          </a:xfrm>
          <a:prstGeom prst="rect">
            <a:avLst/>
          </a:prstGeom>
          <a:solidFill>
            <a:srgbClr val="0D1B2A"/>
          </a:solidFill>
          <a:ln/>
          <a:effectLst>
            <a:outerShdw sx="100000" sy="100000" kx="0" ky="0" algn="bl" rotWithShape="0" blurRad="63500" dist="25400" dir="8100000">
              <a:srgbClr val="000000">
                <a:alpha val="15000"/>
              </a:srgbClr>
            </a:outerShdw>
          </a:effectLst>
        </p:spPr>
      </p:sp>
      <p:sp>
        <p:nvSpPr>
          <p:cNvPr id="16" name="Shape 14"/>
          <p:cNvSpPr/>
          <p:nvPr/>
        </p:nvSpPr>
        <p:spPr>
          <a:xfrm>
            <a:off x="4754880" y="640080"/>
            <a:ext cx="4069080" cy="347472"/>
          </a:xfrm>
          <a:prstGeom prst="rect">
            <a:avLst/>
          </a:prstGeom>
          <a:solidFill>
            <a:srgbClr val="C1121F"/>
          </a:solidFill>
          <a:ln/>
        </p:spPr>
      </p:sp>
      <p:sp>
        <p:nvSpPr>
          <p:cNvPr id="17" name="Text 15"/>
          <p:cNvSpPr/>
          <p:nvPr/>
        </p:nvSpPr>
        <p:spPr>
          <a:xfrm>
            <a:off x="4892040" y="658368"/>
            <a:ext cx="384048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Final System Outcome</a:t>
            </a:r>
            <a:endParaRPr lang="en-US" sz="1200" dirty="0"/>
          </a:p>
        </p:txBody>
      </p:sp>
      <p:sp>
        <p:nvSpPr>
          <p:cNvPr id="18" name="Text 16"/>
          <p:cNvSpPr/>
          <p:nvPr/>
        </p:nvSpPr>
        <p:spPr>
          <a:xfrm>
            <a:off x="4892040" y="1060704"/>
            <a:ext cx="3749040" cy="1828800"/>
          </a:xfrm>
          <a:prstGeom prst="rect">
            <a:avLst/>
          </a:prstGeom>
          <a:noFill/>
          <a:ln/>
        </p:spPr>
        <p:txBody>
          <a:bodyPr wrap="square" rtlCol="0" anchor="ctr"/>
          <a:lstStyle/>
          <a:p>
            <a:pPr marL="342900" indent="-342900">
              <a:spcAft>
                <a:spcPts val="500"/>
              </a:spcAft>
              <a:buSzPct val="100000"/>
              <a:buChar char="•"/>
            </a:pPr>
            <a:r>
              <a:rPr lang="en-US" sz="1100" dirty="0">
                <a:solidFill>
                  <a:srgbClr val="94D2BD"/>
                </a:solidFill>
                <a:latin typeface="Calibri" pitchFamily="34" charset="0"/>
                <a:ea typeface="Calibri" pitchFamily="34" charset="-122"/>
                <a:cs typeface="Calibri" pitchFamily="34" charset="-120"/>
              </a:rPr>
              <a:t>Centralized onboarding for ALL external data feeds</a:t>
            </a:r>
            <a:endParaRPr lang="en-US" sz="1100" dirty="0"/>
          </a:p>
          <a:p>
            <a:pPr marL="342900" indent="-342900">
              <a:spcAft>
                <a:spcPts val="500"/>
              </a:spcAft>
              <a:buSzPct val="100000"/>
              <a:buChar char="•"/>
            </a:pPr>
            <a:r>
              <a:rPr lang="en-US" sz="1100" dirty="0">
                <a:solidFill>
                  <a:srgbClr val="94D2BD"/>
                </a:solidFill>
                <a:latin typeface="Calibri" pitchFamily="34" charset="0"/>
                <a:ea typeface="Calibri" pitchFamily="34" charset="-122"/>
                <a:cs typeface="Calibri" pitchFamily="34" charset="-120"/>
              </a:rPr>
              <a:t>Governed and auditable processing at every step</a:t>
            </a:r>
            <a:endParaRPr lang="en-US" sz="1100" dirty="0"/>
          </a:p>
          <a:p>
            <a:pPr marL="342900" indent="-342900">
              <a:spcAft>
                <a:spcPts val="500"/>
              </a:spcAft>
              <a:buSzPct val="100000"/>
              <a:buChar char="•"/>
            </a:pPr>
            <a:r>
              <a:rPr lang="en-US" sz="1100" dirty="0">
                <a:solidFill>
                  <a:srgbClr val="94D2BD"/>
                </a:solidFill>
                <a:latin typeface="Calibri" pitchFamily="34" charset="0"/>
                <a:ea typeface="Calibri" pitchFamily="34" charset="-122"/>
                <a:cs typeface="Calibri" pitchFamily="34" charset="-120"/>
              </a:rPr>
              <a:t>Reusable metadata &amp; pipelines across teams</a:t>
            </a:r>
            <a:endParaRPr lang="en-US" sz="1100" dirty="0"/>
          </a:p>
          <a:p>
            <a:pPr marL="342900" indent="-342900">
              <a:spcAft>
                <a:spcPts val="500"/>
              </a:spcAft>
              <a:buSzPct val="100000"/>
              <a:buChar char="•"/>
            </a:pPr>
            <a:r>
              <a:rPr lang="en-US" sz="1100" dirty="0">
                <a:solidFill>
                  <a:srgbClr val="94D2BD"/>
                </a:solidFill>
                <a:latin typeface="Calibri" pitchFamily="34" charset="0"/>
                <a:ea typeface="Calibri" pitchFamily="34" charset="-122"/>
                <a:cs typeface="Calibri" pitchFamily="34" charset="-120"/>
              </a:rPr>
              <a:t>Zero manual artifact creation — fully automated</a:t>
            </a:r>
            <a:endParaRPr lang="en-US" sz="1100" dirty="0"/>
          </a:p>
        </p:txBody>
      </p:sp>
      <p:sp>
        <p:nvSpPr>
          <p:cNvPr id="19" name="Shape 17"/>
          <p:cNvSpPr/>
          <p:nvPr/>
        </p:nvSpPr>
        <p:spPr>
          <a:xfrm>
            <a:off x="320040" y="3154680"/>
            <a:ext cx="8503920" cy="320040"/>
          </a:xfrm>
          <a:prstGeom prst="rect">
            <a:avLst/>
          </a:prstGeom>
          <a:solidFill>
            <a:srgbClr val="1A2E45"/>
          </a:solidFill>
          <a:ln/>
        </p:spPr>
      </p:sp>
      <p:sp>
        <p:nvSpPr>
          <p:cNvPr id="20" name="Text 18"/>
          <p:cNvSpPr/>
          <p:nvPr/>
        </p:nvSpPr>
        <p:spPr>
          <a:xfrm>
            <a:off x="502920" y="3182112"/>
            <a:ext cx="8229600" cy="265176"/>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Key Benefits Delivered</a:t>
            </a:r>
            <a:endParaRPr lang="en-US" sz="1200" dirty="0"/>
          </a:p>
        </p:txBody>
      </p:sp>
      <p:sp>
        <p:nvSpPr>
          <p:cNvPr id="21" name="Shape 19"/>
          <p:cNvSpPr/>
          <p:nvPr/>
        </p:nvSpPr>
        <p:spPr>
          <a:xfrm>
            <a:off x="320040" y="3566160"/>
            <a:ext cx="2011680" cy="13716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22" name="Text 20"/>
          <p:cNvSpPr/>
          <p:nvPr/>
        </p:nvSpPr>
        <p:spPr>
          <a:xfrm>
            <a:off x="429768" y="3602736"/>
            <a:ext cx="365760" cy="347472"/>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429768" y="3950208"/>
            <a:ext cx="1783080" cy="237744"/>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Faster Onboarding</a:t>
            </a:r>
            <a:endParaRPr lang="en-US" sz="1000" dirty="0"/>
          </a:p>
        </p:txBody>
      </p:sp>
      <p:sp>
        <p:nvSpPr>
          <p:cNvPr id="24" name="Text 22"/>
          <p:cNvSpPr/>
          <p:nvPr/>
        </p:nvSpPr>
        <p:spPr>
          <a:xfrm>
            <a:off x="429768" y="4206240"/>
            <a:ext cx="1783080" cy="65836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AI agents reduce feed onboarding from days to hours</a:t>
            </a:r>
            <a:endParaRPr lang="en-US" sz="950" dirty="0"/>
          </a:p>
        </p:txBody>
      </p:sp>
      <p:sp>
        <p:nvSpPr>
          <p:cNvPr id="25" name="Shape 23"/>
          <p:cNvSpPr/>
          <p:nvPr/>
        </p:nvSpPr>
        <p:spPr>
          <a:xfrm>
            <a:off x="2450592" y="3566160"/>
            <a:ext cx="2011680" cy="13716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26" name="Text 24"/>
          <p:cNvSpPr/>
          <p:nvPr/>
        </p:nvSpPr>
        <p:spPr>
          <a:xfrm>
            <a:off x="2560320" y="3602736"/>
            <a:ext cx="365760" cy="347472"/>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2560320" y="3950208"/>
            <a:ext cx="1783080" cy="237744"/>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Consistent Controls</a:t>
            </a:r>
            <a:endParaRPr lang="en-US" sz="1000" dirty="0"/>
          </a:p>
        </p:txBody>
      </p:sp>
      <p:sp>
        <p:nvSpPr>
          <p:cNvPr id="28" name="Text 26"/>
          <p:cNvSpPr/>
          <p:nvPr/>
        </p:nvSpPr>
        <p:spPr>
          <a:xfrm>
            <a:off x="2560320" y="4206240"/>
            <a:ext cx="1783080" cy="65836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Same governance for every feed, every time</a:t>
            </a:r>
            <a:endParaRPr lang="en-US" sz="950" dirty="0"/>
          </a:p>
        </p:txBody>
      </p:sp>
      <p:sp>
        <p:nvSpPr>
          <p:cNvPr id="29" name="Shape 27"/>
          <p:cNvSpPr/>
          <p:nvPr/>
        </p:nvSpPr>
        <p:spPr>
          <a:xfrm>
            <a:off x="4581144" y="3566160"/>
            <a:ext cx="2011680" cy="13716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30" name="Text 28"/>
          <p:cNvSpPr/>
          <p:nvPr/>
        </p:nvSpPr>
        <p:spPr>
          <a:xfrm>
            <a:off x="4690872" y="3602736"/>
            <a:ext cx="365760" cy="347472"/>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1" name="Text 29"/>
          <p:cNvSpPr/>
          <p:nvPr/>
        </p:nvSpPr>
        <p:spPr>
          <a:xfrm>
            <a:off x="4690872" y="3950208"/>
            <a:ext cx="1783080" cy="237744"/>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Data Quality</a:t>
            </a:r>
            <a:endParaRPr lang="en-US" sz="1000" dirty="0"/>
          </a:p>
        </p:txBody>
      </p:sp>
      <p:sp>
        <p:nvSpPr>
          <p:cNvPr id="32" name="Text 30"/>
          <p:cNvSpPr/>
          <p:nvPr/>
        </p:nvSpPr>
        <p:spPr>
          <a:xfrm>
            <a:off x="4690872" y="4206240"/>
            <a:ext cx="1783080" cy="65836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Validation at every layer ensures integrity</a:t>
            </a:r>
            <a:endParaRPr lang="en-US" sz="950" dirty="0"/>
          </a:p>
        </p:txBody>
      </p:sp>
      <p:sp>
        <p:nvSpPr>
          <p:cNvPr id="33" name="Shape 31"/>
          <p:cNvSpPr/>
          <p:nvPr/>
        </p:nvSpPr>
        <p:spPr>
          <a:xfrm>
            <a:off x="6711696" y="3566160"/>
            <a:ext cx="2011680" cy="13716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34" name="Text 32"/>
          <p:cNvSpPr/>
          <p:nvPr/>
        </p:nvSpPr>
        <p:spPr>
          <a:xfrm>
            <a:off x="6821424" y="3602736"/>
            <a:ext cx="365760" cy="347472"/>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5" name="Text 33"/>
          <p:cNvSpPr/>
          <p:nvPr/>
        </p:nvSpPr>
        <p:spPr>
          <a:xfrm>
            <a:off x="6821424" y="3950208"/>
            <a:ext cx="1783080" cy="237744"/>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Reusability</a:t>
            </a:r>
            <a:endParaRPr lang="en-US" sz="1000" dirty="0"/>
          </a:p>
        </p:txBody>
      </p:sp>
      <p:sp>
        <p:nvSpPr>
          <p:cNvPr id="36" name="Text 34"/>
          <p:cNvSpPr/>
          <p:nvPr/>
        </p:nvSpPr>
        <p:spPr>
          <a:xfrm>
            <a:off x="6821424" y="4206240"/>
            <a:ext cx="1783080" cy="65836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Templates &amp; metadata reused across acquisitions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A9396"/>
          </a:solidFill>
          <a:ln/>
        </p:spPr>
      </p:sp>
      <p:sp>
        <p:nvSpPr>
          <p:cNvPr id="3" name="Shape 1"/>
          <p:cNvSpPr/>
          <p:nvPr/>
        </p:nvSpPr>
        <p:spPr>
          <a:xfrm>
            <a:off x="8686800" y="0"/>
            <a:ext cx="457200" cy="5143500"/>
          </a:xfrm>
          <a:prstGeom prst="rect">
            <a:avLst/>
          </a:prstGeom>
          <a:solidFill>
            <a:srgbClr val="0A9396"/>
          </a:solidFill>
          <a:ln/>
        </p:spPr>
      </p:sp>
      <p:sp>
        <p:nvSpPr>
          <p:cNvPr id="4" name="Text 2"/>
          <p:cNvSpPr/>
          <p:nvPr/>
        </p:nvSpPr>
        <p:spPr>
          <a:xfrm>
            <a:off x="1371600" y="365760"/>
            <a:ext cx="6400800" cy="2011680"/>
          </a:xfrm>
          <a:prstGeom prst="rect">
            <a:avLst/>
          </a:prstGeom>
          <a:noFill/>
          <a:ln/>
        </p:spPr>
        <p:txBody>
          <a:bodyPr wrap="square" lIns="0" tIns="0" rIns="0" bIns="0" rtlCol="0" anchor="ctr"/>
          <a:lstStyle/>
          <a:p>
            <a:pPr algn="ctr" indent="0" marL="0">
              <a:buNone/>
            </a:pPr>
            <a:r>
              <a:rPr lang="en-US" sz="12000" b="1" dirty="0">
                <a:solidFill>
                  <a:srgbClr val="1A2E45"/>
                </a:solidFill>
                <a:latin typeface="Calibri" pitchFamily="34" charset="0"/>
                <a:ea typeface="Calibri" pitchFamily="34" charset="-122"/>
                <a:cs typeface="Calibri" pitchFamily="34" charset="-120"/>
              </a:rPr>
              <a:t>?</a:t>
            </a:r>
            <a:endParaRPr lang="en-US" sz="12000" dirty="0"/>
          </a:p>
        </p:txBody>
      </p:sp>
      <p:sp>
        <p:nvSpPr>
          <p:cNvPr id="5" name="Text 3"/>
          <p:cNvSpPr/>
          <p:nvPr/>
        </p:nvSpPr>
        <p:spPr>
          <a:xfrm>
            <a:off x="1371600" y="1920240"/>
            <a:ext cx="640080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Q &amp; A</a:t>
            </a:r>
            <a:endParaRPr lang="en-US" sz="4800" dirty="0"/>
          </a:p>
        </p:txBody>
      </p:sp>
      <p:sp>
        <p:nvSpPr>
          <p:cNvPr id="6" name="Text 4"/>
          <p:cNvSpPr/>
          <p:nvPr/>
        </p:nvSpPr>
        <p:spPr>
          <a:xfrm>
            <a:off x="1371600" y="2788920"/>
            <a:ext cx="6400800" cy="365760"/>
          </a:xfrm>
          <a:prstGeom prst="rect">
            <a:avLst/>
          </a:prstGeom>
          <a:noFill/>
          <a:ln/>
        </p:spPr>
        <p:txBody>
          <a:bodyPr wrap="square" lIns="0" tIns="0" rIns="0" bIns="0" rtlCol="0" anchor="ctr"/>
          <a:lstStyle/>
          <a:p>
            <a:pPr algn="ctr" indent="0" marL="0">
              <a:buNone/>
            </a:pPr>
            <a:r>
              <a:rPr lang="en-US" sz="1600" i="1" dirty="0">
                <a:solidFill>
                  <a:srgbClr val="94D2BD"/>
                </a:solidFill>
                <a:latin typeface="Calibri" pitchFamily="34" charset="0"/>
                <a:ea typeface="Calibri" pitchFamily="34" charset="-122"/>
                <a:cs typeface="Calibri" pitchFamily="34" charset="-120"/>
              </a:rPr>
              <a:t>Questions &amp; Discussion</a:t>
            </a:r>
            <a:endParaRPr lang="en-US" sz="1600" dirty="0"/>
          </a:p>
        </p:txBody>
      </p:sp>
      <p:sp>
        <p:nvSpPr>
          <p:cNvPr id="7" name="Shape 5"/>
          <p:cNvSpPr/>
          <p:nvPr/>
        </p:nvSpPr>
        <p:spPr>
          <a:xfrm>
            <a:off x="2286000" y="3246120"/>
            <a:ext cx="4572000" cy="36576"/>
          </a:xfrm>
          <a:prstGeom prst="rect">
            <a:avLst/>
          </a:prstGeom>
          <a:solidFill>
            <a:srgbClr val="0A9396"/>
          </a:solidFill>
          <a:ln/>
        </p:spPr>
      </p:sp>
      <p:sp>
        <p:nvSpPr>
          <p:cNvPr id="8" name="Text 6"/>
          <p:cNvSpPr/>
          <p:nvPr/>
        </p:nvSpPr>
        <p:spPr>
          <a:xfrm>
            <a:off x="1371600" y="3383280"/>
            <a:ext cx="6400800" cy="1554480"/>
          </a:xfrm>
          <a:prstGeom prst="rect">
            <a:avLst/>
          </a:prstGeom>
          <a:noFill/>
          <a:ln/>
        </p:spPr>
        <p:txBody>
          <a:bodyPr wrap="square" rtlCol="0" anchor="ctr"/>
          <a:lstStyle/>
          <a:p>
            <a:pPr algn="ctr" marL="342900" indent="-342900">
              <a:spcAft>
                <a:spcPts val="400"/>
              </a:spcAft>
              <a:buSzPct val="100000"/>
              <a:buChar char="•"/>
            </a:pPr>
            <a:r>
              <a:rPr lang="en-US" sz="1100" dirty="0">
                <a:solidFill>
                  <a:srgbClr val="8EABC0"/>
                </a:solidFill>
                <a:latin typeface="Calibri" pitchFamily="34" charset="0"/>
                <a:ea typeface="Calibri" pitchFamily="34" charset="-122"/>
                <a:cs typeface="Calibri" pitchFamily="34" charset="-120"/>
              </a:rPr>
              <a:t>How does the AI Agent know which skills to invoke?</a:t>
            </a:r>
            <a:endParaRPr lang="en-US" sz="1100" dirty="0"/>
          </a:p>
          <a:p>
            <a:pPr algn="ctr" marL="342900" indent="-342900">
              <a:spcAft>
                <a:spcPts val="400"/>
              </a:spcAft>
              <a:buSzPct val="100000"/>
              <a:buChar char="•"/>
            </a:pPr>
            <a:r>
              <a:rPr lang="en-US" sz="1100" dirty="0">
                <a:solidFill>
                  <a:srgbClr val="8EABC0"/>
                </a:solidFill>
                <a:latin typeface="Calibri" pitchFamily="34" charset="0"/>
                <a:ea typeface="Calibri" pitchFamily="34" charset="-122"/>
                <a:cs typeface="Calibri" pitchFamily="34" charset="-120"/>
              </a:rPr>
              <a:t>What happens if metadata approval is rejected?</a:t>
            </a:r>
            <a:endParaRPr lang="en-US" sz="1100" dirty="0"/>
          </a:p>
          <a:p>
            <a:pPr algn="ctr" marL="342900" indent="-342900">
              <a:spcAft>
                <a:spcPts val="400"/>
              </a:spcAft>
              <a:buSzPct val="100000"/>
              <a:buChar char="•"/>
            </a:pPr>
            <a:r>
              <a:rPr lang="en-US" sz="1100" dirty="0">
                <a:solidFill>
                  <a:srgbClr val="8EABC0"/>
                </a:solidFill>
                <a:latin typeface="Calibri" pitchFamily="34" charset="0"/>
                <a:ea typeface="Calibri" pitchFamily="34" charset="-122"/>
                <a:cs typeface="Calibri" pitchFamily="34" charset="-120"/>
              </a:rPr>
              <a:t>How are Airflow DAGs versioned and promoted?</a:t>
            </a:r>
            <a:endParaRPr lang="en-US" sz="1100" dirty="0"/>
          </a:p>
          <a:p>
            <a:pPr algn="ctr" marL="342900" indent="-342900">
              <a:spcAft>
                <a:spcPts val="400"/>
              </a:spcAft>
              <a:buSzPct val="100000"/>
              <a:buChar char="•"/>
            </a:pPr>
            <a:r>
              <a:rPr lang="en-US" sz="1100" dirty="0">
                <a:solidFill>
                  <a:srgbClr val="8EABC0"/>
                </a:solidFill>
                <a:latin typeface="Calibri" pitchFamily="34" charset="0"/>
                <a:ea typeface="Calibri" pitchFamily="34" charset="-122"/>
                <a:cs typeface="Calibri" pitchFamily="34" charset="-120"/>
              </a:rPr>
              <a:t>How does the system handle feed updates / re-onboarding?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ampliFi Acquisition App</dc:title>
  <dc:subject>PptxGenJS Presentation</dc:subject>
  <dc:creator>PptxGenJS</dc:creator>
  <cp:lastModifiedBy>PptxGenJS</cp:lastModifiedBy>
  <cp:revision>1</cp:revision>
  <dcterms:created xsi:type="dcterms:W3CDTF">2026-05-19T03:36:33Z</dcterms:created>
  <dcterms:modified xsi:type="dcterms:W3CDTF">2026-05-19T03:36:33Z</dcterms:modified>
</cp:coreProperties>
</file>